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27432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0"/>
            <a:ext cx="12191695" cy="27432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0" y="1828800"/>
            <a:ext cx="12191695" cy="12801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6000" b="1">
                <a:solidFill>
                  <a:srgbClr val="00FF41"/>
                </a:solidFill>
                <a:latin typeface="Consolas"/>
                <a:ea typeface="Consolas"/>
              </a:rPr>
              <a:t>CodesWatch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3200400"/>
            <a:ext cx="12191695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2400" b="0">
                <a:solidFill>
                  <a:srgbClr val="FFFFFF"/>
                </a:solidFill>
                <a:latin typeface="微软雅黑"/>
                <a:ea typeface="微软雅黑"/>
              </a:rPr>
              <a:t>AI 代码安全审计平台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3886200"/>
            <a:ext cx="12191695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8AA892"/>
                </a:solidFill>
                <a:latin typeface="微软雅黑"/>
                <a:ea typeface="微软雅黑"/>
              </a:rPr>
              <a:t>基于 Spring Boot 3 + 大语言模型的自动化代码安全审计平台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4800600"/>
            <a:ext cx="12191695" cy="4114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300" b="0" dirty="0">
                <a:solidFill>
                  <a:srgbClr val="1F7A3D"/>
                </a:solidFill>
                <a:latin typeface="Consolas"/>
                <a:ea typeface="Consolas"/>
              </a:rPr>
              <a:t>github.com/mlf519/</a:t>
            </a:r>
            <a:r>
              <a:rPr sz="1300" b="0" dirty="0" err="1">
                <a:solidFill>
                  <a:srgbClr val="1F7A3D"/>
                </a:solidFill>
                <a:latin typeface="Consolas"/>
                <a:ea typeface="Consolas"/>
              </a:rPr>
              <a:t>CodesWatch</a:t>
            </a:r>
            <a:endParaRPr sz="1300" b="0" dirty="0">
              <a:solidFill>
                <a:srgbClr val="1F7A3D"/>
              </a:solidFill>
              <a:latin typeface="Consolas"/>
              <a:ea typeface="Consolas"/>
            </a:endParaRP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57F91065-B100-7170-DC89-A64A5F09A14A}"/>
              </a:ext>
            </a:extLst>
          </p:cNvPr>
          <p:cNvSpPr/>
          <p:nvPr/>
        </p:nvSpPr>
        <p:spPr>
          <a:xfrm>
            <a:off x="5803900" y="5799582"/>
            <a:ext cx="6044895" cy="4114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lang="zh-CN" altLang="en-US" sz="1300" b="0" dirty="0">
                <a:solidFill>
                  <a:srgbClr val="1F7A3D"/>
                </a:solidFill>
                <a:latin typeface="Consolas"/>
                <a:ea typeface="Consolas"/>
              </a:rPr>
              <a:t>主讲人：马林峰</a:t>
            </a:r>
            <a:endParaRPr sz="1300" b="0" dirty="0">
              <a:solidFill>
                <a:srgbClr val="1F7A3D"/>
              </a:solidFill>
              <a:latin typeface="Consolas"/>
              <a:ea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0058400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0FF41"/>
                </a:solidFill>
                <a:latin typeface="微软雅黑"/>
                <a:ea typeface="微软雅黑"/>
              </a:rPr>
              <a:t>目录 /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554480" cy="3200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6510528"/>
            <a:ext cx="731520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CodesWatch · AI 代码安全审计平台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6510528"/>
            <a:ext cx="1078992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02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25880"/>
            <a:ext cx="68580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FF41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1325880"/>
            <a:ext cx="475488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D8ECDD"/>
                </a:solidFill>
                <a:latin typeface="微软雅黑"/>
                <a:ea typeface="微软雅黑"/>
              </a:rPr>
              <a:t>项目背景与定位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47672"/>
            <a:ext cx="68580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FF41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1947672"/>
            <a:ext cx="475488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D8ECDD"/>
                </a:solidFill>
                <a:latin typeface="微软雅黑"/>
                <a:ea typeface="微软雅黑"/>
              </a:rPr>
              <a:t>系统特性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569464"/>
            <a:ext cx="68580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FF41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2569464"/>
            <a:ext cx="475488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D8ECDD"/>
                </a:solidFill>
                <a:latin typeface="微软雅黑"/>
                <a:ea typeface="微软雅黑"/>
              </a:rPr>
              <a:t>系统架构总览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191256"/>
            <a:ext cx="68580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FF41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3191256"/>
            <a:ext cx="475488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D8ECDD"/>
                </a:solidFill>
                <a:latin typeface="微软雅黑"/>
                <a:ea typeface="微软雅黑"/>
              </a:rPr>
              <a:t>扫描流水线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813048"/>
            <a:ext cx="68580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FF41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3813048"/>
            <a:ext cx="475488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D8ECDD"/>
                </a:solidFill>
                <a:latin typeface="微软雅黑"/>
                <a:ea typeface="微软雅黑"/>
              </a:rPr>
              <a:t>扫描阶段详解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434840"/>
            <a:ext cx="68580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FF41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54480" y="4434840"/>
            <a:ext cx="475488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D8ECDD"/>
                </a:solidFill>
                <a:latin typeface="微软雅黑"/>
                <a:ea typeface="微软雅黑"/>
              </a:rPr>
              <a:t>核心原理：任务编排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56632"/>
            <a:ext cx="68580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FF41"/>
                </a:solidFill>
                <a:latin typeface="Consolas"/>
                <a:ea typeface="Consolas"/>
              </a:rPr>
              <a:t>07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4480" y="5056632"/>
            <a:ext cx="475488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D8ECDD"/>
                </a:solidFill>
                <a:latin typeface="微软雅黑"/>
                <a:ea typeface="微软雅黑"/>
              </a:rPr>
              <a:t>核心原理：LLM 交互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678424"/>
            <a:ext cx="68580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FF41"/>
                </a:solidFill>
                <a:latin typeface="Consolas"/>
                <a:ea typeface="Consolas"/>
              </a:rPr>
              <a:t>08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54480" y="5678424"/>
            <a:ext cx="475488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D8ECDD"/>
                </a:solidFill>
                <a:latin typeface="微软雅黑"/>
                <a:ea typeface="微软雅黑"/>
              </a:rPr>
              <a:t>核心原理：提示词体系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1325880"/>
            <a:ext cx="68580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FF41"/>
                </a:solidFill>
                <a:latin typeface="Consolas"/>
                <a:ea typeface="Consolas"/>
              </a:rPr>
              <a:t>09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325880"/>
            <a:ext cx="475488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D8ECDD"/>
                </a:solidFill>
                <a:latin typeface="微软雅黑"/>
                <a:ea typeface="微软雅黑"/>
              </a:rPr>
              <a:t>功能：模型配置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1947672"/>
            <a:ext cx="68580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FF41"/>
                </a:solidFill>
                <a:latin typeface="Consolas"/>
                <a:ea typeface="Consolas"/>
              </a:rPr>
              <a:t>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1947672"/>
            <a:ext cx="475488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D8ECDD"/>
                </a:solidFill>
                <a:latin typeface="微软雅黑"/>
                <a:ea typeface="微软雅黑"/>
              </a:rPr>
              <a:t>功能：实时监控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2569464"/>
            <a:ext cx="68580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FF41"/>
                </a:solidFill>
                <a:latin typeface="Consolas"/>
                <a:ea typeface="Consolas"/>
              </a:rPr>
              <a:t>11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2569464"/>
            <a:ext cx="475488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D8ECDD"/>
                </a:solidFill>
                <a:latin typeface="微软雅黑"/>
                <a:ea typeface="微软雅黑"/>
              </a:rPr>
              <a:t>功能：任务管理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3191256"/>
            <a:ext cx="68580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FF41"/>
                </a:solidFill>
                <a:latin typeface="Consolas"/>
                <a:ea typeface="Consolas"/>
              </a:rPr>
              <a:t>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3191256"/>
            <a:ext cx="475488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D8ECDD"/>
                </a:solidFill>
                <a:latin typeface="微软雅黑"/>
                <a:ea typeface="微软雅黑"/>
              </a:rPr>
              <a:t>报告生成与导出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3813048"/>
            <a:ext cx="68580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FF41"/>
                </a:solidFill>
                <a:latin typeface="Consolas"/>
                <a:ea typeface="Consolas"/>
              </a:rPr>
              <a:t>13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3813048"/>
            <a:ext cx="475488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D8ECDD"/>
                </a:solidFill>
                <a:latin typeface="微软雅黑"/>
                <a:ea typeface="微软雅黑"/>
              </a:rPr>
              <a:t>技术栈与部署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4434840"/>
            <a:ext cx="68580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FF41"/>
                </a:solidFill>
                <a:latin typeface="Consolas"/>
                <a:ea typeface="Consolas"/>
              </a:rPr>
              <a:t>14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0" y="4434840"/>
            <a:ext cx="475488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D8ECDD"/>
                </a:solidFill>
                <a:latin typeface="微软雅黑"/>
                <a:ea typeface="微软雅黑"/>
              </a:rPr>
              <a:t>已知局限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5056632"/>
            <a:ext cx="68580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FF41"/>
                </a:solidFill>
                <a:latin typeface="Consolas"/>
                <a:ea typeface="Consolas"/>
              </a:rPr>
              <a:t>15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5056632"/>
            <a:ext cx="475488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D8ECDD"/>
                </a:solidFill>
                <a:latin typeface="微软雅黑"/>
                <a:ea typeface="微软雅黑"/>
              </a:rPr>
              <a:t>后续规划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0058400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0FF41"/>
                </a:solidFill>
                <a:latin typeface="微软雅黑"/>
                <a:ea typeface="微软雅黑"/>
              </a:rPr>
              <a:t>项目背景与定位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554480" cy="3200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6510528"/>
            <a:ext cx="731520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CodesWatch · AI 代码安全审计平台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6510528"/>
            <a:ext cx="1078992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03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5212080" cy="3566160"/>
          </a:xfrm>
          <a:prstGeom prst="roundRect">
            <a:avLst>
              <a:gd name="adj" fmla="val 5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FF5555"/>
                </a:solidFill>
                <a:latin typeface="微软雅黑"/>
                <a:ea typeface="微软雅黑"/>
              </a:rPr>
              <a:t>传统人工代码审计的痛点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耗时费力：逐文件通读代码，审计周期长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重复劳动：依赖梳理、接口枚举等机械性工作多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依赖经验：审计覆盖面与深度因人而异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容易遗漏：接口多、入口杂，人工难以全覆盖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97880" y="2880360"/>
            <a:ext cx="502920" cy="310896"/>
          </a:xfrm>
          <a:prstGeom prst="right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92240" y="1234440"/>
            <a:ext cx="5212080" cy="3566160"/>
          </a:xfrm>
          <a:prstGeom prst="roundRect">
            <a:avLst>
              <a:gd name="adj" fmla="val 5000"/>
            </a:avLst>
          </a:prstGeom>
          <a:solidFill>
            <a:srgbClr val="0F2A16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00FF41"/>
                </a:solidFill>
                <a:latin typeface="微软雅黑"/>
                <a:ea typeface="微软雅黑"/>
              </a:rPr>
              <a:t>CodesWatch 的解法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流程自动化：按安全工程师审计思路编排三阶段扫描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LLM 深度分析：每个待审计点交由大模型逐项研判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子任务全覆盖：所有接口独立建任务，不漏一接口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结论可沉淀：自动汇总专业审计报告，一键导出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074920"/>
            <a:ext cx="11201400" cy="100584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0FF41"/>
                </a:solidFill>
                <a:latin typeface="微软雅黑"/>
                <a:ea typeface="微软雅黑"/>
              </a:rPr>
              <a:t>定位：把人工代码审计流程自动化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8AA892"/>
                </a:solidFill>
                <a:latin typeface="微软雅黑"/>
                <a:ea typeface="微软雅黑"/>
              </a:rPr>
              <a:t>系统代码审计能力主要依靠大模型能力 —— 后续大模型越强，系统越强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0058400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0FF41"/>
                </a:solidFill>
                <a:latin typeface="微软雅黑"/>
                <a:ea typeface="微软雅黑"/>
              </a:rPr>
              <a:t>系统特性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554480" cy="3200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6510528"/>
            <a:ext cx="731520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CodesWatch · AI 代码安全审计平台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6510528"/>
            <a:ext cx="1078992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04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2688336" cy="2148840"/>
          </a:xfrm>
          <a:prstGeom prst="roundRect">
            <a:avLst>
              <a:gd name="adj" fmla="val 7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FF41"/>
                </a:solidFill>
                <a:latin typeface="Consolas"/>
                <a:ea typeface="Consolas"/>
              </a:rPr>
              <a:t>01</a:t>
            </a: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00FF41"/>
                </a:solidFill>
                <a:latin typeface="微软雅黑"/>
                <a:ea typeface="微软雅黑"/>
              </a:rPr>
              <a:t>自动化审计流水线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依赖 → 接口 → 高危操作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三阶段自动编排执行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4136" y="1371600"/>
            <a:ext cx="2688336" cy="2148840"/>
          </a:xfrm>
          <a:prstGeom prst="roundRect">
            <a:avLst>
              <a:gd name="adj" fmla="val 7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FF41"/>
                </a:solidFill>
                <a:latin typeface="Consolas"/>
                <a:ea typeface="Consolas"/>
              </a:rPr>
              <a:t>02</a:t>
            </a: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00FF41"/>
                </a:solidFill>
                <a:latin typeface="微软雅黑"/>
                <a:ea typeface="微软雅黑"/>
              </a:rPr>
              <a:t>子任务完整覆盖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所有接口独立新建子任务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逐一扫描，保证完整性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371600"/>
            <a:ext cx="2688336" cy="2148840"/>
          </a:xfrm>
          <a:prstGeom prst="roundRect">
            <a:avLst>
              <a:gd name="adj" fmla="val 7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FF41"/>
                </a:solidFill>
                <a:latin typeface="Consolas"/>
                <a:ea typeface="Consolas"/>
              </a:rPr>
              <a:t>03</a:t>
            </a: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00FF41"/>
                </a:solidFill>
                <a:latin typeface="微软雅黑"/>
                <a:ea typeface="微软雅黑"/>
              </a:rPr>
              <a:t>人工审计流程自动化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模拟工程师"先依赖、再接口、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后高危"的完整审计思路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16568" y="1371600"/>
            <a:ext cx="2688336" cy="2148840"/>
          </a:xfrm>
          <a:prstGeom prst="roundRect">
            <a:avLst>
              <a:gd name="adj" fmla="val 7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FF41"/>
                </a:solidFill>
                <a:latin typeface="Consolas"/>
                <a:ea typeface="Consolas"/>
              </a:rPr>
              <a:t>04</a:t>
            </a: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00FF41"/>
                </a:solidFill>
                <a:latin typeface="微软雅黑"/>
                <a:ea typeface="微软雅黑"/>
              </a:rPr>
              <a:t>提示词可配置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按阶段 / 漏洞类型自定义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系统与专属分析提示词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49039"/>
            <a:ext cx="2688336" cy="2148840"/>
          </a:xfrm>
          <a:prstGeom prst="roundRect">
            <a:avLst>
              <a:gd name="adj" fmla="val 7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FF41"/>
                </a:solidFill>
                <a:latin typeface="Consolas"/>
                <a:ea typeface="Consolas"/>
              </a:rPr>
              <a:t>05</a:t>
            </a: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00FF41"/>
                </a:solidFill>
                <a:latin typeface="微软雅黑"/>
                <a:ea typeface="微软雅黑"/>
              </a:rPr>
              <a:t>多模型可配置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多套配置并存可设默认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支持思考模式（推理模型）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4136" y="3749039"/>
            <a:ext cx="2688336" cy="2148840"/>
          </a:xfrm>
          <a:prstGeom prst="roundRect">
            <a:avLst>
              <a:gd name="adj" fmla="val 7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FF41"/>
                </a:solidFill>
                <a:latin typeface="Consolas"/>
                <a:ea typeface="Consolas"/>
              </a:rPr>
              <a:t>06</a:t>
            </a: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00FF41"/>
                </a:solidFill>
                <a:latin typeface="微软雅黑"/>
                <a:ea typeface="微软雅黑"/>
              </a:rPr>
              <a:t>实时可视化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SSE 实时推送进度与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请求 / 回复 / 思考全记录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749039"/>
            <a:ext cx="2688336" cy="2148840"/>
          </a:xfrm>
          <a:prstGeom prst="roundRect">
            <a:avLst>
              <a:gd name="adj" fmla="val 7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FF41"/>
                </a:solidFill>
                <a:latin typeface="Consolas"/>
                <a:ea typeface="Consolas"/>
              </a:rPr>
              <a:t>07</a:t>
            </a: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00FF41"/>
                </a:solidFill>
                <a:latin typeface="微软雅黑"/>
                <a:ea typeface="微软雅黑"/>
              </a:rPr>
              <a:t>专业报告导出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Markdown / PDF 导出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漏洞等级着色专业排版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16568" y="3749039"/>
            <a:ext cx="2688336" cy="2148840"/>
          </a:xfrm>
          <a:prstGeom prst="roundRect">
            <a:avLst>
              <a:gd name="adj" fmla="val 7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FF41"/>
                </a:solidFill>
                <a:latin typeface="Consolas"/>
                <a:ea typeface="Consolas"/>
              </a:rPr>
              <a:t>08</a:t>
            </a: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00FF41"/>
                </a:solidFill>
                <a:latin typeface="微软雅黑"/>
                <a:ea typeface="微软雅黑"/>
              </a:rPr>
              <a:t>能力随模型成长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审计能力依托大模型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模型越强，系统越强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0058400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0FF41"/>
                </a:solidFill>
                <a:latin typeface="微软雅黑"/>
                <a:ea typeface="微软雅黑"/>
              </a:rPr>
              <a:t>系统架构总览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554480" cy="3200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6510528"/>
            <a:ext cx="731520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CodesWatch · AI 代码安全审计平台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6510528"/>
            <a:ext cx="1078992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05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FF41"/>
                </a:solidFill>
                <a:latin typeface="微软雅黑"/>
                <a:ea typeface="微软雅黑"/>
              </a:rPr>
              <a:t>前端（原生 HTML / CSS / JavaScript）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驾驶舱 · 项目管理 · 任务管理 · 模型配置 · 提示词配置 ｜ SSE 实时渲染</a:t>
            </a:r>
          </a:p>
        </p:txBody>
      </p:sp>
      <p:sp>
        <p:nvSpPr>
          <p:cNvPr id="9" name="Down Arrow 8"/>
          <p:cNvSpPr/>
          <p:nvPr/>
        </p:nvSpPr>
        <p:spPr>
          <a:xfrm>
            <a:off x="4206240" y="2286000"/>
            <a:ext cx="237744" cy="411480"/>
          </a:xfrm>
          <a:prstGeom prst="down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2788920"/>
            <a:ext cx="7680960" cy="2377440"/>
          </a:xfrm>
          <a:prstGeom prst="roundRect">
            <a:avLst>
              <a:gd name="adj" fmla="val 5000"/>
            </a:avLst>
          </a:prstGeom>
          <a:solidFill>
            <a:srgbClr val="0F2A16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0FF41"/>
                </a:solidFill>
                <a:latin typeface="微软雅黑"/>
                <a:ea typeface="微软雅黑"/>
              </a:rPr>
              <a:t>Spring Boot 3 后端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3566160" cy="1554480"/>
          </a:xfrm>
          <a:prstGeom prst="roundRect">
            <a:avLst>
              <a:gd name="adj" fmla="val 10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Controller 层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AA892"/>
                </a:solidFill>
                <a:latin typeface="微软雅黑"/>
                <a:ea typeface="微软雅黑"/>
              </a:rPr>
              <a:t>Project / Task / LlmConfig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AA892"/>
                </a:solidFill>
                <a:latin typeface="微软雅黑"/>
                <a:ea typeface="微软雅黑"/>
              </a:rPr>
              <a:t>PromptConfig /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429000"/>
            <a:ext cx="3566160" cy="1554480"/>
          </a:xfrm>
          <a:prstGeom prst="roundRect">
            <a:avLst>
              <a:gd name="adj" fmla="val 10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Service 层（核心）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AA892"/>
                </a:solidFill>
                <a:latin typeface="微软雅黑"/>
                <a:ea typeface="微软雅黑"/>
              </a:rPr>
              <a:t>ScanEngine / Task / Llm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AA892"/>
                </a:solidFill>
                <a:latin typeface="微软雅黑"/>
                <a:ea typeface="微软雅黑"/>
              </a:rPr>
              <a:t>Project / File / Prompt / LlmConfig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206240" y="5257800"/>
            <a:ext cx="237744" cy="411480"/>
          </a:xfrm>
          <a:prstGeom prst="down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5760720"/>
            <a:ext cx="7680960" cy="566928"/>
          </a:xfrm>
          <a:prstGeom prst="roundRect">
            <a:avLst>
              <a:gd name="adj" fmla="val 10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MySQL 8（项目 / 任务 / 漏洞发现 / 扫描日志 / 模型与提示词配置）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278892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5240">
            <a:solidFill>
              <a:srgbClr val="FFB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B000"/>
                </a:solidFill>
                <a:latin typeface="微软雅黑"/>
                <a:ea typeface="微软雅黑"/>
              </a:rPr>
              <a:t>大语言模型 API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OpenAI 兼容协议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（DeepSeek 等）</a:t>
            </a:r>
          </a:p>
          <a:p>
            <a:pPr algn="ctr">
              <a:spcAft>
                <a:spcPts val="200"/>
              </a:spcAft>
            </a:pPr>
            <a:endParaRPr sz="1100" b="0">
              <a:solidFill>
                <a:srgbClr val="8AA892"/>
              </a:solidFill>
              <a:latin typeface="微软雅黑"/>
              <a:ea typeface="微软雅黑"/>
            </a:endParaRP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支持思考模式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推理内容解析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83879" y="3566160"/>
            <a:ext cx="822961" cy="0"/>
          </a:xfrm>
          <a:prstGeom prst="line">
            <a:avLst/>
          </a:prstGeom>
          <a:ln w="19050">
            <a:solidFill>
              <a:srgbClr val="FFB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183879" y="4389120"/>
            <a:ext cx="822961" cy="0"/>
          </a:xfrm>
          <a:prstGeom prst="line">
            <a:avLst/>
          </a:prstGeom>
          <a:ln w="19050">
            <a:solidFill>
              <a:srgbClr val="FFB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06840" y="2331720"/>
            <a:ext cx="269748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HTTPS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280160"/>
            <a:ext cx="2697480" cy="566928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0E3D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8AA892"/>
                </a:solidFill>
                <a:latin typeface="Consolas"/>
                <a:ea typeface="Consolas"/>
              </a:rPr>
              <a:t>GitHub：mlf519/CodesWatch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0058400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0FF41"/>
                </a:solidFill>
                <a:latin typeface="微软雅黑"/>
                <a:ea typeface="微软雅黑"/>
              </a:rPr>
              <a:t>扫描流水线：三阶段自动编排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554480" cy="3200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6510528"/>
            <a:ext cx="731520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CodesWatch · AI 代码安全审计平台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6510528"/>
            <a:ext cx="1078992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06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371600" cy="960120"/>
          </a:xfrm>
          <a:prstGeom prst="roundRect">
            <a:avLst>
              <a:gd name="adj" fmla="val 10000"/>
            </a:avLst>
          </a:prstGeom>
          <a:solidFill>
            <a:srgbClr val="0F2A16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上传项目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ZIP 源码包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783080" y="2194560"/>
            <a:ext cx="310896" cy="219456"/>
          </a:xfrm>
          <a:prstGeom prst="right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148840" y="1828800"/>
            <a:ext cx="2148840" cy="960120"/>
          </a:xfrm>
          <a:prstGeom prst="roundRect">
            <a:avLst>
              <a:gd name="adj" fmla="val 10000"/>
            </a:avLst>
          </a:prstGeom>
          <a:solidFill>
            <a:srgbClr val="0A1C0F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00FF41"/>
                </a:solidFill>
                <a:latin typeface="微软雅黑"/>
                <a:ea typeface="微软雅黑"/>
              </a:rPr>
              <a:t>① 依赖扫描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3063240"/>
            <a:ext cx="2148840" cy="196596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8AA892"/>
                </a:solidFill>
                <a:latin typeface="微软雅黑"/>
                <a:ea typeface="微软雅黑"/>
              </a:rPr>
              <a:t>•  解析 pom.xml 依赖清单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AA892"/>
                </a:solidFill>
                <a:latin typeface="微软雅黑"/>
                <a:ea typeface="微软雅黑"/>
              </a:rPr>
              <a:t>•  LLM 评估组件风险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AA892"/>
                </a:solidFill>
                <a:latin typeface="微软雅黑"/>
                <a:ea typeface="微软雅黑"/>
              </a:rPr>
              <a:t>•  产出依赖安全结论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97679" y="2194560"/>
            <a:ext cx="310896" cy="219456"/>
          </a:xfrm>
          <a:prstGeom prst="right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63440" y="1828800"/>
            <a:ext cx="2148840" cy="960120"/>
          </a:xfrm>
          <a:prstGeom prst="roundRect">
            <a:avLst>
              <a:gd name="adj" fmla="val 10000"/>
            </a:avLst>
          </a:prstGeom>
          <a:solidFill>
            <a:srgbClr val="0A1C0F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00FF41"/>
                </a:solidFill>
                <a:latin typeface="微软雅黑"/>
                <a:ea typeface="微软雅黑"/>
              </a:rPr>
              <a:t>② 接口扫描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063240"/>
            <a:ext cx="2148840" cy="196596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8AA892"/>
                </a:solidFill>
                <a:latin typeface="微软雅黑"/>
                <a:ea typeface="微软雅黑"/>
              </a:rPr>
              <a:t>•  提取 Controller 注解接口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AA892"/>
                </a:solidFill>
                <a:latin typeface="微软雅黑"/>
                <a:ea typeface="微软雅黑"/>
              </a:rPr>
              <a:t>•  每接口 × 漏洞类型建子任务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AA892"/>
                </a:solidFill>
                <a:latin typeface="微软雅黑"/>
                <a:ea typeface="微软雅黑"/>
              </a:rPr>
              <a:t>•  逐项调用大模型分析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812279" y="2194560"/>
            <a:ext cx="310896" cy="219456"/>
          </a:xfrm>
          <a:prstGeom prst="right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178040" y="1828800"/>
            <a:ext cx="2148840" cy="960120"/>
          </a:xfrm>
          <a:prstGeom prst="roundRect">
            <a:avLst>
              <a:gd name="adj" fmla="val 10000"/>
            </a:avLst>
          </a:prstGeom>
          <a:solidFill>
            <a:srgbClr val="0A1C0F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00FF41"/>
                </a:solidFill>
                <a:latin typeface="微软雅黑"/>
                <a:ea typeface="微软雅黑"/>
              </a:rPr>
              <a:t>③ 高危操作扫描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3063240"/>
            <a:ext cx="2148840" cy="196596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8AA892"/>
                </a:solidFill>
                <a:latin typeface="微软雅黑"/>
                <a:ea typeface="微软雅黑"/>
              </a:rPr>
              <a:t>•  识别 new File( 等高危调用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AA892"/>
                </a:solidFill>
                <a:latin typeface="微软雅黑"/>
                <a:ea typeface="微软雅黑"/>
              </a:rPr>
              <a:t>•  结合上下文研判风险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AA892"/>
                </a:solidFill>
                <a:latin typeface="微软雅黑"/>
                <a:ea typeface="微软雅黑"/>
              </a:rPr>
              <a:t>•  输出高危操作清单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326880" y="2194560"/>
            <a:ext cx="310896" cy="219456"/>
          </a:xfrm>
          <a:prstGeom prst="right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692640" y="1828800"/>
            <a:ext cx="2148840" cy="960120"/>
          </a:xfrm>
          <a:prstGeom prst="roundRect">
            <a:avLst>
              <a:gd name="adj" fmla="val 10000"/>
            </a:avLst>
          </a:prstGeom>
          <a:solidFill>
            <a:srgbClr val="0A1C0F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00FF41"/>
                </a:solidFill>
                <a:latin typeface="微软雅黑"/>
                <a:ea typeface="微软雅黑"/>
              </a:rPr>
              <a:t>④ 报告生成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3063240"/>
            <a:ext cx="2148840" cy="196596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8AA892"/>
                </a:solidFill>
                <a:latin typeface="微软雅黑"/>
                <a:ea typeface="微软雅黑"/>
              </a:rPr>
              <a:t>•  汇总漏洞与任务结论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AA892"/>
                </a:solidFill>
                <a:latin typeface="微软雅黑"/>
                <a:ea typeface="微软雅黑"/>
              </a:rPr>
              <a:t>•  Markdown 结构化报告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AA892"/>
                </a:solidFill>
                <a:latin typeface="微软雅黑"/>
                <a:ea typeface="微软雅黑"/>
              </a:rPr>
              <a:t>•  支持 MD / PDF 导出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349240"/>
            <a:ext cx="11201400" cy="777240"/>
          </a:xfrm>
          <a:prstGeom prst="roundRect">
            <a:avLst>
              <a:gd name="adj" fmla="val 10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FF41"/>
                </a:solidFill>
                <a:latin typeface="微软雅黑"/>
                <a:ea typeface="微软雅黑"/>
              </a:rPr>
              <a:t>全程自动执行 ｜ 各阶段是否扫描由提示词配置决定，未配置的阶段自动跳过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0058400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0FF41"/>
                </a:solidFill>
                <a:latin typeface="微软雅黑"/>
                <a:ea typeface="微软雅黑"/>
              </a:rPr>
              <a:t>阶段详解 ①：依赖扫描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554480" cy="3200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6510528"/>
            <a:ext cx="731520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CodesWatch · AI 代码安全审计平台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6510528"/>
            <a:ext cx="1078992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07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760720" cy="4754880"/>
          </a:xfrm>
          <a:prstGeom prst="roundRect">
            <a:avLst>
              <a:gd name="adj" fmla="val 5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00FF41"/>
                </a:solidFill>
                <a:latin typeface="微软雅黑"/>
                <a:ea typeface="微软雅黑"/>
              </a:rPr>
              <a:t>阶段要点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任务创建：读取项目 pom.xml，解析全部依赖组件清单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分析方式：将依赖清单交由大模型，结合已知风险模式研判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产出：依赖组件安全分析结论，标注可疑 / 高危组件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流程地位：审计第一步 —— 先看清项目"用了什么"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灵活配置：扫描与否由提示词配置决定，可整体裁剪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280160"/>
            <a:ext cx="5166360" cy="4754880"/>
          </a:xfrm>
          <a:prstGeom prst="roundRect">
            <a:avLst>
              <a:gd name="adj" fmla="val 6000"/>
            </a:avLst>
          </a:prstGeom>
          <a:solidFill>
            <a:srgbClr val="0A1C0F"/>
          </a:solidFill>
          <a:ln w="15240">
            <a:solidFill>
              <a:srgbClr val="1F7A3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600" b="1" dirty="0">
                <a:solidFill>
                  <a:srgbClr val="00FF41"/>
                </a:solidFill>
                <a:latin typeface="微软雅黑"/>
                <a:ea typeface="微软雅黑"/>
              </a:rPr>
              <a:t>【 </a:t>
            </a:r>
            <a:r>
              <a:rPr sz="1600" b="1" dirty="0" err="1">
                <a:solidFill>
                  <a:srgbClr val="00FF41"/>
                </a:solidFill>
                <a:latin typeface="微软雅黑"/>
                <a:ea typeface="微软雅黑"/>
              </a:rPr>
              <a:t>截图占位</a:t>
            </a:r>
            <a:r>
              <a:rPr sz="1600" b="1" dirty="0">
                <a:solidFill>
                  <a:srgbClr val="00FF41"/>
                </a:solidFill>
                <a:latin typeface="微软雅黑"/>
                <a:ea typeface="微软雅黑"/>
              </a:rPr>
              <a:t> 】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200" b="0" dirty="0" err="1">
                <a:solidFill>
                  <a:srgbClr val="8AA892"/>
                </a:solidFill>
                <a:latin typeface="微软雅黑"/>
                <a:ea typeface="微软雅黑"/>
              </a:rPr>
              <a:t>依赖扫描阶段</a:t>
            </a:r>
            <a:r>
              <a:rPr sz="1200" b="0" dirty="0">
                <a:solidFill>
                  <a:srgbClr val="8AA892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8AA892"/>
                </a:solidFill>
                <a:latin typeface="微软雅黑"/>
                <a:ea typeface="微软雅黑"/>
              </a:rPr>
              <a:t>任务列表与执行日志</a:t>
            </a:r>
            <a:endParaRPr sz="1200" b="0" dirty="0">
              <a:solidFill>
                <a:srgbClr val="8AA892"/>
              </a:solidFill>
              <a:latin typeface="微软雅黑"/>
              <a:ea typeface="微软雅黑"/>
            </a:endParaRP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000" b="0" dirty="0">
                <a:solidFill>
                  <a:srgbClr val="8AA892"/>
                </a:solidFill>
                <a:latin typeface="微软雅黑"/>
                <a:ea typeface="微软雅黑"/>
              </a:rPr>
              <a:t>（</a:t>
            </a:r>
            <a:r>
              <a:rPr sz="1000" b="0" dirty="0" err="1">
                <a:solidFill>
                  <a:srgbClr val="8AA892"/>
                </a:solidFill>
                <a:latin typeface="微软雅黑"/>
                <a:ea typeface="微软雅黑"/>
              </a:rPr>
              <a:t>运行系统后替换为实际截图</a:t>
            </a:r>
            <a:r>
              <a:rPr sz="1000" b="0" dirty="0">
                <a:solidFill>
                  <a:srgbClr val="8AA892"/>
                </a:solidFill>
                <a:latin typeface="微软雅黑"/>
                <a:ea typeface="微软雅黑"/>
              </a:rPr>
              <a:t>）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FE69568-EBD8-1BC2-482C-ACF852C94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159" y="2112910"/>
            <a:ext cx="5057961" cy="30893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0058400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0FF41"/>
                </a:solidFill>
                <a:latin typeface="微软雅黑"/>
                <a:ea typeface="微软雅黑"/>
              </a:rPr>
              <a:t>阶段详解 ②：接口扫描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554480" cy="3200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6510528"/>
            <a:ext cx="731520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CodesWatch · AI 代码安全审计平台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6510528"/>
            <a:ext cx="1078992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08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760720" cy="4754880"/>
          </a:xfrm>
          <a:prstGeom prst="roundRect">
            <a:avLst>
              <a:gd name="adj" fmla="val 5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00FF41"/>
                </a:solidFill>
                <a:latin typeface="微软雅黑"/>
                <a:ea typeface="微软雅黑"/>
              </a:rPr>
              <a:t>阶段要点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接口提取：扫描 @GetMapping / @PostMapping / @RequestMapping 注解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任务拆分：每个接口按漏洞类型（SQL 注入、文件上传等）新建子任务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逐项分析：每个子任务独立调用大模型针对性研判，结论互不干扰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产出：接口级漏洞发现（等级 / 位置 / 利用路径 / 修复建议）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完整性保证：所有接口独立建任务，扫描结果可追踪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280160"/>
            <a:ext cx="5166360" cy="4754880"/>
          </a:xfrm>
          <a:prstGeom prst="roundRect">
            <a:avLst>
              <a:gd name="adj" fmla="val 6000"/>
            </a:avLst>
          </a:prstGeom>
          <a:solidFill>
            <a:srgbClr val="0A1C0F"/>
          </a:solidFill>
          <a:ln w="15240">
            <a:solidFill>
              <a:srgbClr val="1F7A3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0FF41"/>
                </a:solidFill>
                <a:latin typeface="微软雅黑"/>
                <a:ea typeface="微软雅黑"/>
              </a:rPr>
              <a:t>【 截图占位 】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8AA892"/>
                </a:solidFill>
                <a:latin typeface="微软雅黑"/>
                <a:ea typeface="微软雅黑"/>
              </a:rPr>
              <a:t>接口扫描 · 子任务执行与多轮对话记录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（运行系统后替换为实际截图）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C4B87A6-53B3-0C0B-24EE-2FC08425C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745" y="2628900"/>
            <a:ext cx="5144575" cy="23348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0058400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0FF41"/>
                </a:solidFill>
                <a:latin typeface="微软雅黑"/>
                <a:ea typeface="微软雅黑"/>
              </a:rPr>
              <a:t>阶段详解 ③：高危操作扫描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554480" cy="3200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6510528"/>
            <a:ext cx="731520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CodesWatch · AI 代码安全审计平台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6510528"/>
            <a:ext cx="1078992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09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760720" cy="4754880"/>
          </a:xfrm>
          <a:prstGeom prst="roundRect">
            <a:avLst>
              <a:gd name="adj" fmla="val 5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00FF41"/>
                </a:solidFill>
                <a:latin typeface="微软雅黑"/>
                <a:ea typeface="微软雅黑"/>
              </a:rPr>
              <a:t>阶段要点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目标定位：识别 new File( 等高危 API 调用点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上下文研判：将调用点及上下文代码交由大模型分析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可扩展：高危规则由提示词配置驱动，按需增减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产出：高危操作清单与风险说明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D8ECDD"/>
                </a:solidFill>
                <a:latin typeface="微软雅黑"/>
                <a:ea typeface="微软雅黑"/>
              </a:rPr>
              <a:t>•  流程地位：兜底检查 —— 覆盖不经过接口入口的风险调用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280160"/>
            <a:ext cx="5166360" cy="4754880"/>
          </a:xfrm>
          <a:prstGeom prst="roundRect">
            <a:avLst>
              <a:gd name="adj" fmla="val 6000"/>
            </a:avLst>
          </a:prstGeom>
          <a:solidFill>
            <a:srgbClr val="0A1C0F"/>
          </a:solidFill>
          <a:ln w="15240">
            <a:solidFill>
              <a:srgbClr val="1F7A3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0FF41"/>
                </a:solidFill>
                <a:latin typeface="微软雅黑"/>
                <a:ea typeface="微软雅黑"/>
              </a:rPr>
              <a:t>【 截图占位 】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8AA892"/>
                </a:solidFill>
                <a:latin typeface="微软雅黑"/>
                <a:ea typeface="微软雅黑"/>
              </a:rPr>
              <a:t>高危操作扫描 · 高危点清单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（运行系统后替换为实际截图）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A40EE25-317A-1286-E6B2-98CE47C0C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1928861"/>
            <a:ext cx="4924627" cy="37958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0058400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0FF41"/>
                </a:solidFill>
                <a:latin typeface="微软雅黑"/>
                <a:ea typeface="微软雅黑"/>
              </a:rPr>
              <a:t>核心原理：任务编排与状态聚合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554480" cy="3200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6510528"/>
            <a:ext cx="731520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CodesWatch · AI 代码安全审计平台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6510528"/>
            <a:ext cx="1078992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10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234440"/>
            <a:ext cx="3291840" cy="566928"/>
          </a:xfrm>
          <a:prstGeom prst="roundRect">
            <a:avLst>
              <a:gd name="adj" fmla="val 14000"/>
            </a:avLst>
          </a:prstGeom>
          <a:solidFill>
            <a:srgbClr val="0F2A16"/>
          </a:solidFill>
          <a:ln w="1651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FF41"/>
                </a:solidFill>
                <a:latin typeface="微软雅黑"/>
                <a:ea typeface="微软雅黑"/>
              </a:rPr>
              <a:t>项目扫描任务（根任务）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2651760" cy="530352"/>
          </a:xfrm>
          <a:prstGeom prst="roundRect">
            <a:avLst>
              <a:gd name="adj" fmla="val 14000"/>
            </a:avLst>
          </a:prstGeom>
          <a:solidFill>
            <a:srgbClr val="0A1C0F"/>
          </a:solidFill>
          <a:ln w="1524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依赖扫描容器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103120" y="1801368"/>
            <a:ext cx="3995928" cy="530352"/>
          </a:xfrm>
          <a:prstGeom prst="line">
            <a:avLst/>
          </a:prstGeom>
          <a:ln w="19050">
            <a:solidFill>
              <a:srgbClr val="1F7A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44568" y="2331720"/>
            <a:ext cx="2651760" cy="530352"/>
          </a:xfrm>
          <a:prstGeom prst="roundRect">
            <a:avLst>
              <a:gd name="adj" fmla="val 14000"/>
            </a:avLst>
          </a:prstGeom>
          <a:solidFill>
            <a:srgbClr val="0A1C0F"/>
          </a:solidFill>
          <a:ln w="1524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接口扫描容器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5870448" y="1801368"/>
            <a:ext cx="228600" cy="530352"/>
          </a:xfrm>
          <a:prstGeom prst="line">
            <a:avLst/>
          </a:prstGeom>
          <a:ln w="19050">
            <a:solidFill>
              <a:srgbClr val="1F7A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732520" y="2331720"/>
            <a:ext cx="2651760" cy="530352"/>
          </a:xfrm>
          <a:prstGeom prst="roundRect">
            <a:avLst>
              <a:gd name="adj" fmla="val 14000"/>
            </a:avLst>
          </a:prstGeom>
          <a:solidFill>
            <a:srgbClr val="0A1C0F"/>
          </a:solidFill>
          <a:ln w="1524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高危操作容器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9048" y="1801368"/>
            <a:ext cx="3959352" cy="530352"/>
          </a:xfrm>
          <a:prstGeom prst="line">
            <a:avLst/>
          </a:prstGeom>
          <a:ln w="19050">
            <a:solidFill>
              <a:srgbClr val="1F7A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7240" y="33375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0A1C0F"/>
          </a:solidFill>
          <a:ln w="12700">
            <a:solidFill>
              <a:srgbClr val="0E3D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D8ECDD"/>
                </a:solidFill>
                <a:latin typeface="微软雅黑"/>
                <a:ea typeface="微软雅黑"/>
              </a:rPr>
              <a:t>依赖分析子任务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03120" y="2862072"/>
            <a:ext cx="0" cy="475488"/>
          </a:xfrm>
          <a:prstGeom prst="line">
            <a:avLst/>
          </a:prstGeom>
          <a:ln w="15240">
            <a:solidFill>
              <a:srgbClr val="0E3D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44568" y="33375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0A1C0F"/>
          </a:solidFill>
          <a:ln w="12700">
            <a:solidFill>
              <a:srgbClr val="0E3D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D8ECDD"/>
                </a:solidFill>
                <a:latin typeface="微软雅黑"/>
                <a:ea typeface="微软雅黑"/>
              </a:rPr>
              <a:t>接口A · SQL注入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70448" y="2862072"/>
            <a:ext cx="0" cy="475488"/>
          </a:xfrm>
          <a:prstGeom prst="line">
            <a:avLst/>
          </a:prstGeom>
          <a:ln w="15240">
            <a:solidFill>
              <a:srgbClr val="0E3D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544568" y="3904487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0A1C0F"/>
          </a:solidFill>
          <a:ln w="12700">
            <a:solidFill>
              <a:srgbClr val="0E3D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D8ECDD"/>
                </a:solidFill>
                <a:latin typeface="微软雅黑"/>
                <a:ea typeface="微软雅黑"/>
              </a:rPr>
              <a:t>接口A · 文件上传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70448" y="3428999"/>
            <a:ext cx="0" cy="475488"/>
          </a:xfrm>
          <a:prstGeom prst="line">
            <a:avLst/>
          </a:prstGeom>
          <a:ln w="15240">
            <a:solidFill>
              <a:srgbClr val="0E3D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44568" y="4471416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0A1C0F"/>
          </a:solidFill>
          <a:ln w="12700">
            <a:solidFill>
              <a:srgbClr val="0E3D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D8ECDD"/>
                </a:solidFill>
                <a:latin typeface="微软雅黑"/>
                <a:ea typeface="微软雅黑"/>
              </a:rPr>
              <a:t>接口B · SQL注入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70448" y="3995927"/>
            <a:ext cx="0" cy="475489"/>
          </a:xfrm>
          <a:prstGeom prst="line">
            <a:avLst/>
          </a:prstGeom>
          <a:ln w="15240">
            <a:solidFill>
              <a:srgbClr val="0E3D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732520" y="33375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0A1C0F"/>
          </a:solidFill>
          <a:ln w="12700">
            <a:solidFill>
              <a:srgbClr val="0E3D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D8ECDD"/>
                </a:solidFill>
                <a:latin typeface="微软雅黑"/>
                <a:ea typeface="微软雅黑"/>
              </a:rPr>
              <a:t>高危点 1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058400" y="2862072"/>
            <a:ext cx="0" cy="475488"/>
          </a:xfrm>
          <a:prstGeom prst="line">
            <a:avLst/>
          </a:prstGeom>
          <a:ln w="15240">
            <a:solidFill>
              <a:srgbClr val="0E3D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732520" y="3904487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0A1C0F"/>
          </a:solidFill>
          <a:ln w="12700">
            <a:solidFill>
              <a:srgbClr val="0E3D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D8ECDD"/>
                </a:solidFill>
                <a:latin typeface="微软雅黑"/>
                <a:ea typeface="微软雅黑"/>
              </a:rPr>
              <a:t>高危点 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58400" y="3428999"/>
            <a:ext cx="0" cy="475488"/>
          </a:xfrm>
          <a:prstGeom prst="line">
            <a:avLst/>
          </a:prstGeom>
          <a:ln w="15240">
            <a:solidFill>
              <a:srgbClr val="0E3D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02920" y="5257800"/>
            <a:ext cx="11201400" cy="105156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00FF41"/>
                </a:solidFill>
                <a:latin typeface="微软雅黑"/>
                <a:ea typeface="微软雅黑"/>
              </a:rPr>
              <a:t>进度 = 已完成叶子任务数 / 叶子任务总数（孙任务计入总数）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8AA892"/>
                </a:solidFill>
                <a:latin typeface="微软雅黑"/>
                <a:ea typeface="微软雅黑"/>
              </a:rPr>
              <a:t>父任务状态由子任务实时聚合；容器任务不直接调用大模型 ｜ 支持 暂停 · 继续 · 重启 · 取消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0058400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0FF41"/>
                </a:solidFill>
                <a:latin typeface="微软雅黑"/>
                <a:ea typeface="微软雅黑"/>
              </a:rPr>
              <a:t>核心原理：LLM 交互与结论解析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554480" cy="3200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6510528"/>
            <a:ext cx="731520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CodesWatch · AI 代码安全审计平台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6510528"/>
            <a:ext cx="1078992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11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920240" cy="685800"/>
          </a:xfrm>
          <a:prstGeom prst="roundRect">
            <a:avLst>
              <a:gd name="adj" fmla="val 14000"/>
            </a:avLst>
          </a:prstGeom>
          <a:solidFill>
            <a:srgbClr val="0A1C0F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00FF41"/>
                </a:solidFill>
                <a:latin typeface="微软雅黑"/>
                <a:ea typeface="微软雅黑"/>
              </a:rPr>
              <a:t>提示词组装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15184" y="1591056"/>
            <a:ext cx="384048" cy="237744"/>
          </a:xfrm>
          <a:prstGeom prst="right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99232" y="1371600"/>
            <a:ext cx="1920240" cy="685800"/>
          </a:xfrm>
          <a:prstGeom prst="roundRect">
            <a:avLst>
              <a:gd name="adj" fmla="val 14000"/>
            </a:avLst>
          </a:prstGeom>
          <a:solidFill>
            <a:srgbClr val="0A1C0F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00FF41"/>
                </a:solidFill>
                <a:latin typeface="微软雅黑"/>
                <a:ea typeface="微软雅黑"/>
              </a:rPr>
              <a:t>请求构造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74336" y="1591056"/>
            <a:ext cx="384048" cy="237744"/>
          </a:xfrm>
          <a:prstGeom prst="right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58384" y="1371600"/>
            <a:ext cx="1920240" cy="685800"/>
          </a:xfrm>
          <a:prstGeom prst="roundRect">
            <a:avLst>
              <a:gd name="adj" fmla="val 14000"/>
            </a:avLst>
          </a:prstGeom>
          <a:solidFill>
            <a:srgbClr val="0A1C0F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00FF41"/>
                </a:solidFill>
                <a:latin typeface="微软雅黑"/>
                <a:ea typeface="微软雅黑"/>
              </a:rPr>
              <a:t>大模型推理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33488" y="1591056"/>
            <a:ext cx="384048" cy="237744"/>
          </a:xfrm>
          <a:prstGeom prst="right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17536" y="1371600"/>
            <a:ext cx="1920240" cy="685800"/>
          </a:xfrm>
          <a:prstGeom prst="roundRect">
            <a:avLst>
              <a:gd name="adj" fmla="val 14000"/>
            </a:avLst>
          </a:prstGeom>
          <a:solidFill>
            <a:srgbClr val="0A1C0F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00FF41"/>
                </a:solidFill>
                <a:latin typeface="微软雅黑"/>
                <a:ea typeface="微软雅黑"/>
              </a:rPr>
              <a:t>响应解析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692640" y="1591056"/>
            <a:ext cx="384048" cy="237744"/>
          </a:xfrm>
          <a:prstGeom prst="right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76688" y="1371600"/>
            <a:ext cx="1920240" cy="685800"/>
          </a:xfrm>
          <a:prstGeom prst="roundRect">
            <a:avLst>
              <a:gd name="adj" fmla="val 14000"/>
            </a:avLst>
          </a:prstGeom>
          <a:solidFill>
            <a:srgbClr val="0A1C0F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00FF41"/>
                </a:solidFill>
                <a:latin typeface="微软雅黑"/>
                <a:ea typeface="微软雅黑"/>
              </a:rPr>
              <a:t>结论入库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514600"/>
            <a:ext cx="1920240" cy="228600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提示词组装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全局前缀 + 阶段系统提示词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+ 漏洞类型专属分析提示词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+ 后缀提示词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481328" y="2121408"/>
            <a:ext cx="237744" cy="329184"/>
          </a:xfrm>
          <a:prstGeom prst="down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999232" y="2514600"/>
            <a:ext cx="1920240" cy="228600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请求构造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OpenAI 兼容协议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思考模式按模型配置开关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（如 DeepSeek-R1）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840480" y="2121408"/>
            <a:ext cx="237744" cy="329184"/>
          </a:xfrm>
          <a:prstGeom prst="down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58384" y="2514600"/>
            <a:ext cx="1920240" cy="228600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大模型推理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返回正文 content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与思考内容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reasoning_content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6199632" y="2121408"/>
            <a:ext cx="237744" cy="329184"/>
          </a:xfrm>
          <a:prstGeom prst="down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17536" y="2514600"/>
            <a:ext cx="1920240" cy="228600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响应解析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正文为空时回退思考内容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end:…:end 结论标签提取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缺失 :end 时行首 end: 兜底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8558784" y="2121408"/>
            <a:ext cx="237744" cy="329184"/>
          </a:xfrm>
          <a:prstGeom prst="down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076688" y="2514600"/>
            <a:ext cx="1920240" cy="228600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结论入库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解析漏洞等级 / 类型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位置 / 利用路径 / 修复建议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结构化存储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0917936" y="2121408"/>
            <a:ext cx="237744" cy="329184"/>
          </a:xfrm>
          <a:prstGeom prst="down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02920" y="5120640"/>
            <a:ext cx="11201400" cy="960120"/>
          </a:xfrm>
          <a:prstGeom prst="roundRect">
            <a:avLst>
              <a:gd name="adj" fmla="val 10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00FF41"/>
                </a:solidFill>
                <a:latin typeface="微软雅黑"/>
                <a:ea typeface="微软雅黑"/>
              </a:rPr>
              <a:t>解析健壮性：完整匹配 end:…:end ＞ 行首 end: 兜底 ＞ 思考内容回退，保证结论不丢失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0058400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0FF41"/>
                </a:solidFill>
                <a:latin typeface="微软雅黑"/>
                <a:ea typeface="微软雅黑"/>
              </a:rPr>
              <a:t>核心原理：提示词配置体系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554480" cy="3200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6510528"/>
            <a:ext cx="731520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CodesWatch · AI 代码安全审计平台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6510528"/>
            <a:ext cx="1078992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12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280160"/>
            <a:ext cx="9235440" cy="685800"/>
          </a:xfrm>
          <a:prstGeom prst="roundRect">
            <a:avLst>
              <a:gd name="adj" fmla="val 12000"/>
            </a:avLst>
          </a:prstGeom>
          <a:solidFill>
            <a:srgbClr val="0F2A16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0FF41"/>
                </a:solidFill>
                <a:latin typeface="微软雅黑"/>
                <a:ea typeface="微软雅黑"/>
              </a:rPr>
              <a:t>全局配置：系统提示词 / 前缀 / 后缀 —— 作用于所有分析请求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2468880"/>
            <a:ext cx="3017520" cy="777240"/>
          </a:xfrm>
          <a:prstGeom prst="roundRect">
            <a:avLst>
              <a:gd name="adj" fmla="val 10000"/>
            </a:avLst>
          </a:prstGeom>
          <a:solidFill>
            <a:srgbClr val="0A1C0F"/>
          </a:solidFill>
          <a:ln w="1524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依赖扫描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8AA892"/>
                </a:solidFill>
                <a:latin typeface="微软雅黑"/>
                <a:ea typeface="微软雅黑"/>
              </a:rPr>
              <a:t>系统提示词 + 分析提示词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971800" y="1965960"/>
            <a:ext cx="3108960" cy="502920"/>
          </a:xfrm>
          <a:prstGeom prst="line">
            <a:avLst/>
          </a:prstGeom>
          <a:ln w="19050">
            <a:solidFill>
              <a:srgbClr val="1F7A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0" y="2468880"/>
            <a:ext cx="3017520" cy="777240"/>
          </a:xfrm>
          <a:prstGeom prst="roundRect">
            <a:avLst>
              <a:gd name="adj" fmla="val 10000"/>
            </a:avLst>
          </a:prstGeom>
          <a:solidFill>
            <a:srgbClr val="0A1C0F"/>
          </a:solidFill>
          <a:ln w="1524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接口扫描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8AA892"/>
                </a:solidFill>
                <a:latin typeface="微软雅黑"/>
                <a:ea typeface="微软雅黑"/>
              </a:rPr>
              <a:t>系统提示词 + 分析提示词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1965960"/>
            <a:ext cx="0" cy="502920"/>
          </a:xfrm>
          <a:prstGeom prst="line">
            <a:avLst/>
          </a:prstGeom>
          <a:ln w="19050">
            <a:solidFill>
              <a:srgbClr val="1F7A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680960" y="2468880"/>
            <a:ext cx="3017520" cy="777240"/>
          </a:xfrm>
          <a:prstGeom prst="roundRect">
            <a:avLst>
              <a:gd name="adj" fmla="val 10000"/>
            </a:avLst>
          </a:prstGeom>
          <a:solidFill>
            <a:srgbClr val="0A1C0F"/>
          </a:solidFill>
          <a:ln w="1524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高危操作扫描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8AA892"/>
                </a:solidFill>
                <a:latin typeface="微软雅黑"/>
                <a:ea typeface="微软雅黑"/>
              </a:rPr>
              <a:t>系统提示词 + 分析提示词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1965960"/>
            <a:ext cx="3108960" cy="502920"/>
          </a:xfrm>
          <a:prstGeom prst="line">
            <a:avLst/>
          </a:prstGeom>
          <a:ln w="19050">
            <a:solidFill>
              <a:srgbClr val="1F7A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0" y="3749039"/>
            <a:ext cx="3017520" cy="1234440"/>
          </a:xfrm>
          <a:prstGeom prst="roundRect">
            <a:avLst>
              <a:gd name="adj" fmla="val 10000"/>
            </a:avLst>
          </a:prstGeom>
          <a:solidFill>
            <a:srgbClr val="0A1C0F"/>
          </a:solidFill>
          <a:ln w="15240">
            <a:solidFill>
              <a:srgbClr val="FFB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B000"/>
                </a:solidFill>
                <a:latin typeface="微软雅黑"/>
                <a:ea typeface="微软雅黑"/>
              </a:rPr>
              <a:t>漏洞类型专属分析提示词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8AA892"/>
                </a:solidFill>
                <a:latin typeface="微软雅黑"/>
                <a:ea typeface="微软雅黑"/>
              </a:rPr>
              <a:t>SQL 注入 · 文件上传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8AA892"/>
                </a:solidFill>
                <a:latin typeface="微软雅黑"/>
                <a:ea typeface="微软雅黑"/>
              </a:rPr>
              <a:t>鉴权绕过 · 更多类型按需增减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3246120"/>
            <a:ext cx="0" cy="502919"/>
          </a:xfrm>
          <a:prstGeom prst="line">
            <a:avLst/>
          </a:prstGeom>
          <a:ln w="19050">
            <a:solidFill>
              <a:srgbClr val="FFB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463040" y="5349240"/>
            <a:ext cx="9235440" cy="868680"/>
          </a:xfrm>
          <a:prstGeom prst="roundRect">
            <a:avLst>
              <a:gd name="adj" fmla="val 10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00FF41"/>
                </a:solidFill>
                <a:latin typeface="微软雅黑"/>
                <a:ea typeface="微软雅黑"/>
              </a:rPr>
              <a:t>配置驱动：未配置提示词的阶段不创建任务、自动跳过 ｜ 提示词决定漏洞类型覆盖面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0058400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0FF41"/>
                </a:solidFill>
                <a:latin typeface="微软雅黑"/>
                <a:ea typeface="微软雅黑"/>
              </a:rPr>
              <a:t>功能：多模型配置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554480" cy="3200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6510528"/>
            <a:ext cx="731520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CodesWatch · AI 代码安全审计平台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6510528"/>
            <a:ext cx="1078992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13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394960" cy="4023360"/>
          </a:xfrm>
          <a:prstGeom prst="roundRect">
            <a:avLst>
              <a:gd name="adj" fmla="val 5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00FF41"/>
                </a:solidFill>
                <a:latin typeface="微软雅黑"/>
                <a:ea typeface="微软雅黑"/>
              </a:rPr>
              <a:t>模型配置项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D8ECDD"/>
                </a:solidFill>
                <a:latin typeface="Consolas"/>
                <a:ea typeface="Consolas"/>
              </a:rPr>
              <a:t>配置名称：__________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D8ECDD"/>
                </a:solidFill>
                <a:latin typeface="Consolas"/>
                <a:ea typeface="Consolas"/>
              </a:rPr>
              <a:t>厂商 provider：__________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D8ECDD"/>
                </a:solidFill>
                <a:latin typeface="Consolas"/>
                <a:ea typeface="Consolas"/>
              </a:rPr>
              <a:t>Base URL：__________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D8ECDD"/>
                </a:solidFill>
                <a:latin typeface="Consolas"/>
                <a:ea typeface="Consolas"/>
              </a:rPr>
              <a:t>API Key：********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D8ECDD"/>
                </a:solidFill>
                <a:latin typeface="Consolas"/>
                <a:ea typeface="Consolas"/>
              </a:rPr>
              <a:t>模型名：__________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00FF41"/>
                </a:solidFill>
                <a:latin typeface="Consolas"/>
                <a:ea typeface="Consolas"/>
              </a:rPr>
              <a:t>[x] 支持思考模式    [ 设为默认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440680" cy="2651760"/>
          </a:xfrm>
          <a:prstGeom prst="roundRect">
            <a:avLst>
              <a:gd name="adj" fmla="val 5000"/>
            </a:avLst>
          </a:prstGeom>
          <a:solidFill>
            <a:srgbClr val="0F2A16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00FF41"/>
                </a:solidFill>
                <a:latin typeface="微软雅黑"/>
                <a:ea typeface="微软雅黑"/>
              </a:rPr>
              <a:t>要点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D8ECDD"/>
                </a:solidFill>
                <a:latin typeface="微软雅黑"/>
                <a:ea typeface="微软雅黑"/>
              </a:rPr>
              <a:t>•  多套模型配置并存，一键切换默认模型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D8ECDD"/>
                </a:solidFill>
                <a:latin typeface="微软雅黑"/>
                <a:ea typeface="微软雅黑"/>
              </a:rPr>
              <a:t>•  思考模式按配置开关，自动适配请求构造与响应解析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D8ECDD"/>
                </a:solidFill>
                <a:latin typeface="微软雅黑"/>
                <a:ea typeface="微软雅黑"/>
              </a:rPr>
              <a:t>•  API Key 等敏感信息仅存本地数据库，不进入代码仓库与 init.sql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D8ECDD"/>
                </a:solidFill>
                <a:latin typeface="微软雅黑"/>
                <a:ea typeface="微软雅黑"/>
              </a:rPr>
              <a:t>•  LLM 能力通过配置接入，与扫描引擎解耦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0058400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0FF41"/>
                </a:solidFill>
                <a:latin typeface="微软雅黑"/>
                <a:ea typeface="微软雅黑"/>
              </a:rPr>
              <a:t>功能：扫描过程实时监控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554480" cy="3200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6510528"/>
            <a:ext cx="731520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CodesWatch · AI 代码安全审计平台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6510528"/>
            <a:ext cx="1078992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14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1828800" cy="640080"/>
          </a:xfrm>
          <a:prstGeom prst="roundRect">
            <a:avLst>
              <a:gd name="adj" fmla="val 14000"/>
            </a:avLst>
          </a:prstGeom>
          <a:solidFill>
            <a:srgbClr val="0A1C0F"/>
          </a:solidFill>
          <a:ln w="1524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00FF41"/>
                </a:solidFill>
                <a:latin typeface="微软雅黑"/>
                <a:ea typeface="微软雅黑"/>
              </a:rPr>
              <a:t>扫描事件产生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86584" y="1481328"/>
            <a:ext cx="384048" cy="237744"/>
          </a:xfrm>
          <a:prstGeom prst="right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70632" y="1280160"/>
            <a:ext cx="1828800" cy="640080"/>
          </a:xfrm>
          <a:prstGeom prst="roundRect">
            <a:avLst>
              <a:gd name="adj" fmla="val 14000"/>
            </a:avLst>
          </a:prstGeom>
          <a:solidFill>
            <a:srgbClr val="0A1C0F"/>
          </a:solidFill>
          <a:ln w="1524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00FF41"/>
                </a:solidFill>
                <a:latin typeface="微软雅黑"/>
                <a:ea typeface="微软雅黑"/>
              </a:rPr>
              <a:t>SSE 实时推送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54296" y="1481328"/>
            <a:ext cx="384048" cy="237744"/>
          </a:xfrm>
          <a:prstGeom prst="right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38344" y="1280160"/>
            <a:ext cx="1828800" cy="640080"/>
          </a:xfrm>
          <a:prstGeom prst="roundRect">
            <a:avLst>
              <a:gd name="adj" fmla="val 14000"/>
            </a:avLst>
          </a:prstGeom>
          <a:solidFill>
            <a:srgbClr val="0A1C0F"/>
          </a:solidFill>
          <a:ln w="1524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00FF41"/>
                </a:solidFill>
                <a:latin typeface="微软雅黑"/>
                <a:ea typeface="微软雅黑"/>
              </a:rPr>
              <a:t>前端增量渲染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31720"/>
            <a:ext cx="5760720" cy="3611880"/>
          </a:xfrm>
          <a:prstGeom prst="roundRect">
            <a:avLst>
              <a:gd name="adj" fmla="val 5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00FF41"/>
                </a:solidFill>
                <a:latin typeface="微软雅黑"/>
                <a:ea typeface="微软雅黑"/>
              </a:rPr>
              <a:t>看得见的扫描过程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D8ECDD"/>
                </a:solidFill>
                <a:latin typeface="微软雅黑"/>
                <a:ea typeface="微软雅黑"/>
              </a:rPr>
              <a:t>•  任务进度：父 / 子任务状态与进度实时更新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D8ECDD"/>
                </a:solidFill>
                <a:latin typeface="微软雅黑"/>
                <a:ea typeface="微软雅黑"/>
              </a:rPr>
              <a:t>•  执行日志：任务执行时间线逐条呈现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D8ECDD"/>
                </a:solidFill>
                <a:latin typeface="微软雅黑"/>
                <a:ea typeface="微软雅黑"/>
              </a:rPr>
              <a:t>•  对话记录：大模型请求 / 回复 / 思考过程全量留痕（最多 15 轮）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D8ECDD"/>
                </a:solidFill>
                <a:latin typeface="微软雅黑"/>
                <a:ea typeface="微软雅黑"/>
              </a:rPr>
              <a:t>•  体验细节：手动滚动查看历史日志时，不被自动刷新拉回最新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D8ECDD"/>
                </a:solidFill>
                <a:latin typeface="微软雅黑"/>
                <a:ea typeface="微软雅黑"/>
              </a:rPr>
              <a:t>•  任务看板：5 秒增量刷新，保持展开节点与滚动位置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331720"/>
            <a:ext cx="5166360" cy="3611880"/>
          </a:xfrm>
          <a:prstGeom prst="roundRect">
            <a:avLst>
              <a:gd name="adj" fmla="val 6000"/>
            </a:avLst>
          </a:prstGeom>
          <a:solidFill>
            <a:srgbClr val="0A1C0F"/>
          </a:solidFill>
          <a:ln w="15240">
            <a:solidFill>
              <a:srgbClr val="1F7A3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0FF41"/>
                </a:solidFill>
                <a:latin typeface="微软雅黑"/>
                <a:ea typeface="微软雅黑"/>
              </a:rPr>
              <a:t>【 截图占位 】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8AA892"/>
                </a:solidFill>
                <a:latin typeface="微软雅黑"/>
                <a:ea typeface="微软雅黑"/>
              </a:rPr>
              <a:t>扫描过程 · 实时日志与对话记录截图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（运行系统后替换为实际截图）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016A01F-F328-32FF-CB7F-AEF8FFA9F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985566"/>
            <a:ext cx="5148072" cy="26561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0058400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0FF41"/>
                </a:solidFill>
                <a:latin typeface="微软雅黑"/>
                <a:ea typeface="微软雅黑"/>
              </a:rPr>
              <a:t>功能：任务管理与中断恢复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554480" cy="3200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6510528"/>
            <a:ext cx="731520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CodesWatch · AI 代码安全审计平台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6510528"/>
            <a:ext cx="1078992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15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6730" y="1371600"/>
            <a:ext cx="1417320" cy="548640"/>
          </a:xfrm>
          <a:prstGeom prst="roundRect">
            <a:avLst>
              <a:gd name="adj" fmla="val 16000"/>
            </a:avLst>
          </a:prstGeom>
          <a:solidFill>
            <a:srgbClr val="0A1C0F"/>
          </a:solidFill>
          <a:ln w="1524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00FF41"/>
                </a:solidFill>
                <a:latin typeface="微软雅黑"/>
                <a:ea typeface="微软雅黑"/>
              </a:rPr>
              <a:t>等待中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21250" y="1371600"/>
            <a:ext cx="1417320" cy="548640"/>
          </a:xfrm>
          <a:prstGeom prst="roundRect">
            <a:avLst>
              <a:gd name="adj" fmla="val 16000"/>
            </a:avLst>
          </a:prstGeom>
          <a:solidFill>
            <a:srgbClr val="0F2A16"/>
          </a:solidFill>
          <a:ln w="1524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00FF41"/>
                </a:solidFill>
                <a:latin typeface="微软雅黑"/>
                <a:ea typeface="微软雅黑"/>
              </a:rPr>
              <a:t>运行中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95770" y="1371600"/>
            <a:ext cx="1417320" cy="548640"/>
          </a:xfrm>
          <a:prstGeom prst="roundRect">
            <a:avLst>
              <a:gd name="adj" fmla="val 16000"/>
            </a:avLst>
          </a:prstGeom>
          <a:solidFill>
            <a:srgbClr val="0A1C0F"/>
          </a:solidFill>
          <a:ln w="1524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00FF41"/>
                </a:solidFill>
                <a:latin typeface="微软雅黑"/>
                <a:ea typeface="微软雅黑"/>
              </a:rPr>
              <a:t>已完成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509770" y="1527048"/>
            <a:ext cx="365760" cy="237744"/>
          </a:xfrm>
          <a:prstGeom prst="right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6384289" y="1527048"/>
            <a:ext cx="365760" cy="237744"/>
          </a:xfrm>
          <a:prstGeom prst="right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046730" y="2331720"/>
            <a:ext cx="1417320" cy="502920"/>
          </a:xfrm>
          <a:prstGeom prst="roundRect">
            <a:avLst>
              <a:gd name="adj" fmla="val 16000"/>
            </a:avLst>
          </a:prstGeom>
          <a:solidFill>
            <a:srgbClr val="0A1C0F"/>
          </a:solidFill>
          <a:ln w="12700">
            <a:solidFill>
              <a:srgbClr val="FFD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FFD54A"/>
                </a:solidFill>
                <a:latin typeface="微软雅黑"/>
                <a:ea typeface="微软雅黑"/>
              </a:rPr>
              <a:t>已暂停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961130" y="1920240"/>
            <a:ext cx="1554480" cy="411480"/>
          </a:xfrm>
          <a:prstGeom prst="line">
            <a:avLst/>
          </a:prstGeom>
          <a:ln w="15240">
            <a:solidFill>
              <a:srgbClr val="FFD5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961130" y="1920240"/>
            <a:ext cx="1554480" cy="411480"/>
          </a:xfrm>
          <a:prstGeom prst="line">
            <a:avLst/>
          </a:prstGeom>
          <a:ln w="15240">
            <a:solidFill>
              <a:srgbClr val="FFD5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921250" y="2331720"/>
            <a:ext cx="1417320" cy="502920"/>
          </a:xfrm>
          <a:prstGeom prst="roundRect">
            <a:avLst>
              <a:gd name="adj" fmla="val 16000"/>
            </a:avLst>
          </a:prstGeom>
          <a:solidFill>
            <a:srgbClr val="0A1C0F"/>
          </a:solidFill>
          <a:ln w="12700">
            <a:solidFill>
              <a:srgbClr val="FF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5555"/>
                </a:solidFill>
                <a:latin typeface="微软雅黑"/>
                <a:ea typeface="微软雅黑"/>
              </a:rPr>
              <a:t>已取消 / 失败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52770" y="1920240"/>
            <a:ext cx="0" cy="411480"/>
          </a:xfrm>
          <a:prstGeom prst="line">
            <a:avLst/>
          </a:prstGeom>
          <a:ln w="15240">
            <a:solidFill>
              <a:srgbClr val="FF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921250" y="2834640"/>
            <a:ext cx="594360" cy="365760"/>
          </a:xfrm>
          <a:prstGeom prst="line">
            <a:avLst/>
          </a:prstGeom>
          <a:ln w="15240">
            <a:solidFill>
              <a:srgbClr val="0E3D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909570" y="3977639"/>
            <a:ext cx="5760720" cy="1965960"/>
          </a:xfrm>
          <a:prstGeom prst="roundRect">
            <a:avLst>
              <a:gd name="adj" fmla="val 5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800"/>
              </a:spcAft>
            </a:pPr>
            <a:r>
              <a:rPr sz="1250" b="0" dirty="0">
                <a:solidFill>
                  <a:srgbClr val="D8ECDD"/>
                </a:solidFill>
                <a:latin typeface="微软雅黑"/>
                <a:ea typeface="微软雅黑"/>
              </a:rPr>
              <a:t>•  </a:t>
            </a:r>
            <a:r>
              <a:rPr sz="1250" b="0" dirty="0" err="1">
                <a:solidFill>
                  <a:srgbClr val="D8ECDD"/>
                </a:solidFill>
                <a:latin typeface="微软雅黑"/>
                <a:ea typeface="微软雅黑"/>
              </a:rPr>
              <a:t>单任务：暂停</a:t>
            </a:r>
            <a:r>
              <a:rPr sz="1250" b="0" dirty="0">
                <a:solidFill>
                  <a:srgbClr val="D8ECDD"/>
                </a:solidFill>
                <a:latin typeface="微软雅黑"/>
                <a:ea typeface="微软雅黑"/>
              </a:rPr>
              <a:t> / </a:t>
            </a:r>
            <a:r>
              <a:rPr sz="1250" b="0" dirty="0" err="1">
                <a:solidFill>
                  <a:srgbClr val="D8ECDD"/>
                </a:solidFill>
                <a:latin typeface="微软雅黑"/>
                <a:ea typeface="微软雅黑"/>
              </a:rPr>
              <a:t>继续</a:t>
            </a:r>
            <a:r>
              <a:rPr sz="1250" b="0" dirty="0">
                <a:solidFill>
                  <a:srgbClr val="D8ECDD"/>
                </a:solidFill>
                <a:latin typeface="微软雅黑"/>
                <a:ea typeface="微软雅黑"/>
              </a:rPr>
              <a:t> / </a:t>
            </a:r>
            <a:r>
              <a:rPr sz="1250" b="0" dirty="0" err="1">
                <a:solidFill>
                  <a:srgbClr val="D8ECDD"/>
                </a:solidFill>
                <a:latin typeface="微软雅黑"/>
                <a:ea typeface="微软雅黑"/>
              </a:rPr>
              <a:t>重启</a:t>
            </a:r>
            <a:r>
              <a:rPr sz="1250" b="0" dirty="0">
                <a:solidFill>
                  <a:srgbClr val="D8ECDD"/>
                </a:solidFill>
                <a:latin typeface="微软雅黑"/>
                <a:ea typeface="微软雅黑"/>
              </a:rPr>
              <a:t> / </a:t>
            </a:r>
            <a:r>
              <a:rPr sz="1250" b="0" dirty="0" err="1">
                <a:solidFill>
                  <a:srgbClr val="D8ECDD"/>
                </a:solidFill>
                <a:latin typeface="微软雅黑"/>
                <a:ea typeface="微软雅黑"/>
              </a:rPr>
              <a:t>取消</a:t>
            </a:r>
            <a:endParaRPr sz="1250" b="0" dirty="0">
              <a:solidFill>
                <a:srgbClr val="D8ECDD"/>
              </a:solidFill>
              <a:latin typeface="微软雅黑"/>
              <a:ea typeface="微软雅黑"/>
            </a:endParaRPr>
          </a:p>
          <a:p>
            <a:pPr algn="l">
              <a:spcAft>
                <a:spcPts val="800"/>
              </a:spcAft>
            </a:pPr>
            <a:r>
              <a:rPr sz="1250" b="0" dirty="0">
                <a:solidFill>
                  <a:srgbClr val="D8ECDD"/>
                </a:solidFill>
                <a:latin typeface="微软雅黑"/>
                <a:ea typeface="微软雅黑"/>
              </a:rPr>
              <a:t>•  容</a:t>
            </a:r>
            <a:r>
              <a:rPr lang="zh-CN" altLang="en-US" sz="1250" b="0" dirty="0">
                <a:solidFill>
                  <a:srgbClr val="D8ECDD"/>
                </a:solidFill>
                <a:latin typeface="微软雅黑"/>
                <a:ea typeface="微软雅黑"/>
              </a:rPr>
              <a:t>器</a:t>
            </a:r>
            <a:r>
              <a:rPr sz="1250" b="0" dirty="0" err="1">
                <a:solidFill>
                  <a:srgbClr val="D8ECDD"/>
                </a:solidFill>
                <a:latin typeface="微软雅黑"/>
                <a:ea typeface="微软雅黑"/>
              </a:rPr>
              <a:t>任务：全部暂停</a:t>
            </a:r>
            <a:r>
              <a:rPr sz="1250" b="0" dirty="0">
                <a:solidFill>
                  <a:srgbClr val="D8ECDD"/>
                </a:solidFill>
                <a:latin typeface="微软雅黑"/>
                <a:ea typeface="微软雅黑"/>
              </a:rPr>
              <a:t> / </a:t>
            </a:r>
            <a:r>
              <a:rPr sz="1250" b="0" dirty="0" err="1">
                <a:solidFill>
                  <a:srgbClr val="D8ECDD"/>
                </a:solidFill>
                <a:latin typeface="微软雅黑"/>
                <a:ea typeface="微软雅黑"/>
              </a:rPr>
              <a:t>全部继续（父任务不直接调用模型</a:t>
            </a:r>
            <a:r>
              <a:rPr sz="1250" b="0" dirty="0">
                <a:solidFill>
                  <a:srgbClr val="D8ECDD"/>
                </a:solidFill>
                <a:latin typeface="微软雅黑"/>
                <a:ea typeface="微软雅黑"/>
              </a:rPr>
              <a:t>）</a:t>
            </a:r>
          </a:p>
          <a:p>
            <a:pPr algn="l">
              <a:spcAft>
                <a:spcPts val="800"/>
              </a:spcAft>
            </a:pPr>
            <a:r>
              <a:rPr sz="1250" b="0" dirty="0">
                <a:solidFill>
                  <a:srgbClr val="D8ECDD"/>
                </a:solidFill>
                <a:latin typeface="微软雅黑"/>
                <a:ea typeface="微软雅黑"/>
              </a:rPr>
              <a:t>•   </a:t>
            </a:r>
            <a:r>
              <a:rPr sz="1250" b="0" dirty="0" err="1">
                <a:solidFill>
                  <a:srgbClr val="D8ECDD"/>
                </a:solidFill>
                <a:latin typeface="微软雅黑"/>
                <a:ea typeface="微软雅黑"/>
              </a:rPr>
              <a:t>失败</a:t>
            </a:r>
            <a:r>
              <a:rPr sz="1250" b="0" dirty="0">
                <a:solidFill>
                  <a:srgbClr val="D8ECDD"/>
                </a:solidFill>
                <a:latin typeface="微软雅黑"/>
                <a:ea typeface="微软雅黑"/>
              </a:rPr>
              <a:t> / </a:t>
            </a:r>
            <a:r>
              <a:rPr sz="1250" b="0" dirty="0" err="1">
                <a:solidFill>
                  <a:srgbClr val="D8ECDD"/>
                </a:solidFill>
                <a:latin typeface="微软雅黑"/>
                <a:ea typeface="微软雅黑"/>
              </a:rPr>
              <a:t>取消任务可重启</a:t>
            </a:r>
            <a:endParaRPr sz="1250" b="0" dirty="0">
              <a:solidFill>
                <a:srgbClr val="D8ECDD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0058400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0FF41"/>
                </a:solidFill>
                <a:latin typeface="微软雅黑"/>
                <a:ea typeface="微软雅黑"/>
              </a:rPr>
              <a:t>报告生成与导出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554480" cy="3200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6510528"/>
            <a:ext cx="731520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CodesWatch · AI 代码安全审计平台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6510528"/>
            <a:ext cx="1078992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16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760720" cy="105156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00FF41"/>
                </a:solidFill>
                <a:latin typeface="微软雅黑"/>
                <a:ea typeface="微软雅黑"/>
              </a:rPr>
              <a:t>1. 实时汇总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扫描中即可预览：漏洞发现 + 任务结论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（取消任务的已产出结论同样纳入）</a:t>
            </a:r>
          </a:p>
        </p:txBody>
      </p:sp>
      <p:sp>
        <p:nvSpPr>
          <p:cNvPr id="9" name="Down Arrow 8"/>
          <p:cNvSpPr/>
          <p:nvPr/>
        </p:nvSpPr>
        <p:spPr>
          <a:xfrm>
            <a:off x="3264408" y="2359152"/>
            <a:ext cx="237744" cy="292608"/>
          </a:xfrm>
          <a:prstGeom prst="down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2670048"/>
            <a:ext cx="5760720" cy="105156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00FF41"/>
                </a:solidFill>
                <a:latin typeface="微软雅黑"/>
                <a:ea typeface="微软雅黑"/>
              </a:rPr>
              <a:t>2. 内容生成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Markdown 结构化报告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报告前置包含系统说明与 GitHub 地址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264408" y="3749039"/>
            <a:ext cx="237744" cy="292608"/>
          </a:xfrm>
          <a:prstGeom prst="down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4059935"/>
            <a:ext cx="5760720" cy="105156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00FF41"/>
                </a:solidFill>
                <a:latin typeface="微软雅黑"/>
                <a:ea typeface="微软雅黑"/>
              </a:rPr>
              <a:t>3. 页面预览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10 秒静默刷新，内容有变化才重绘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不干扰浏览位置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264408" y="5138927"/>
            <a:ext cx="237744" cy="292608"/>
          </a:xfrm>
          <a:prstGeom prst="down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5449823"/>
            <a:ext cx="5760720" cy="105156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00FF41"/>
                </a:solidFill>
                <a:latin typeface="微软雅黑"/>
                <a:ea typeface="微软雅黑"/>
              </a:rPr>
              <a:t>4. 一键导出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Markdown / PDF 双格式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PDF 漏洞等级着色、专业排版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280160"/>
            <a:ext cx="5166360" cy="4709160"/>
          </a:xfrm>
          <a:prstGeom prst="roundRect">
            <a:avLst>
              <a:gd name="adj" fmla="val 6000"/>
            </a:avLst>
          </a:prstGeom>
          <a:solidFill>
            <a:srgbClr val="0A1C0F"/>
          </a:solidFill>
          <a:ln w="15240">
            <a:solidFill>
              <a:srgbClr val="1F7A3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0FF41"/>
                </a:solidFill>
                <a:latin typeface="微软雅黑"/>
                <a:ea typeface="微软雅黑"/>
              </a:rPr>
              <a:t>【 截图占位 】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8AA892"/>
                </a:solidFill>
                <a:latin typeface="微软雅黑"/>
                <a:ea typeface="微软雅黑"/>
              </a:rPr>
              <a:t>审计报告预览 / PDF 导出效果截图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（运行系统后替换为实际截图）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237F25D-F9DF-356B-191C-F4857BB41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1270" y="1444515"/>
            <a:ext cx="4239740" cy="438959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0058400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0FF41"/>
                </a:solidFill>
                <a:latin typeface="微软雅黑"/>
                <a:ea typeface="微软雅黑"/>
              </a:rPr>
              <a:t>技术栈与项目结构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554480" cy="3200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6510528"/>
            <a:ext cx="731520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CodesWatch · AI 代码安全审计平台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6510528"/>
            <a:ext cx="1078992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17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1554480" cy="685800"/>
          </a:xfrm>
          <a:prstGeom prst="roundRect">
            <a:avLst>
              <a:gd name="adj" fmla="val 12000"/>
            </a:avLst>
          </a:prstGeom>
          <a:solidFill>
            <a:srgbClr val="0F2A16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FF41"/>
                </a:solidFill>
                <a:latin typeface="微软雅黑"/>
                <a:ea typeface="微软雅黑"/>
              </a:rPr>
              <a:t>后端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371600"/>
            <a:ext cx="5029200" cy="685800"/>
          </a:xfrm>
          <a:prstGeom prst="roundRect">
            <a:avLst>
              <a:gd name="adj" fmla="val 12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D8ECDD"/>
                </a:solidFill>
                <a:latin typeface="微软雅黑"/>
                <a:ea typeface="微软雅黑"/>
              </a:rPr>
              <a:t>Java 17 · Spring Boot 3.x · Spring Data JPA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12848"/>
            <a:ext cx="1554480" cy="685800"/>
          </a:xfrm>
          <a:prstGeom prst="roundRect">
            <a:avLst>
              <a:gd name="adj" fmla="val 12000"/>
            </a:avLst>
          </a:prstGeom>
          <a:solidFill>
            <a:srgbClr val="0F2A16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FF41"/>
                </a:solidFill>
                <a:latin typeface="微软雅黑"/>
                <a:ea typeface="微软雅黑"/>
              </a:rPr>
              <a:t>数据库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2212848"/>
            <a:ext cx="5029200" cy="685800"/>
          </a:xfrm>
          <a:prstGeom prst="roundRect">
            <a:avLst>
              <a:gd name="adj" fmla="val 12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D8ECDD"/>
                </a:solidFill>
                <a:latin typeface="微软雅黑"/>
                <a:ea typeface="微软雅黑"/>
              </a:rPr>
              <a:t>MySQL 8.x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54096"/>
            <a:ext cx="1554480" cy="685800"/>
          </a:xfrm>
          <a:prstGeom prst="roundRect">
            <a:avLst>
              <a:gd name="adj" fmla="val 12000"/>
            </a:avLst>
          </a:prstGeom>
          <a:solidFill>
            <a:srgbClr val="0F2A16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FF41"/>
                </a:solidFill>
                <a:latin typeface="微软雅黑"/>
                <a:ea typeface="微软雅黑"/>
              </a:rPr>
              <a:t>前端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3054096"/>
            <a:ext cx="5029200" cy="685800"/>
          </a:xfrm>
          <a:prstGeom prst="roundRect">
            <a:avLst>
              <a:gd name="adj" fmla="val 12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D8ECDD"/>
                </a:solidFill>
                <a:latin typeface="微软雅黑"/>
                <a:ea typeface="微软雅黑"/>
              </a:rPr>
              <a:t>原生 HTML / CSS / JavaScript（SSE 实时渲染）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95344"/>
            <a:ext cx="1554480" cy="685800"/>
          </a:xfrm>
          <a:prstGeom prst="roundRect">
            <a:avLst>
              <a:gd name="adj" fmla="val 12000"/>
            </a:avLst>
          </a:prstGeom>
          <a:solidFill>
            <a:srgbClr val="0F2A16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FF41"/>
                </a:solidFill>
                <a:latin typeface="微软雅黑"/>
                <a:ea typeface="微软雅黑"/>
              </a:rPr>
              <a:t>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48840" y="3895344"/>
            <a:ext cx="5029200" cy="685800"/>
          </a:xfrm>
          <a:prstGeom prst="roundRect">
            <a:avLst>
              <a:gd name="adj" fmla="val 12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D8ECDD"/>
                </a:solidFill>
                <a:latin typeface="微软雅黑"/>
                <a:ea typeface="微软雅黑"/>
              </a:rPr>
              <a:t>大语言模型 API（OpenAI 兼容协议）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736592"/>
            <a:ext cx="1554480" cy="685800"/>
          </a:xfrm>
          <a:prstGeom prst="roundRect">
            <a:avLst>
              <a:gd name="adj" fmla="val 12000"/>
            </a:avLst>
          </a:prstGeom>
          <a:solidFill>
            <a:srgbClr val="0F2A16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FF41"/>
                </a:solidFill>
                <a:latin typeface="微软雅黑"/>
                <a:ea typeface="微软雅黑"/>
              </a:rPr>
              <a:t>构建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48840" y="4736592"/>
            <a:ext cx="5029200" cy="685800"/>
          </a:xfrm>
          <a:prstGeom prst="roundRect">
            <a:avLst>
              <a:gd name="adj" fmla="val 12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D8ECDD"/>
                </a:solidFill>
                <a:latin typeface="微软雅黑"/>
                <a:ea typeface="微软雅黑"/>
              </a:rPr>
              <a:t>Maven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371600"/>
            <a:ext cx="4069080" cy="4206240"/>
          </a:xfrm>
          <a:prstGeom prst="roundRect">
            <a:avLst>
              <a:gd name="adj" fmla="val 5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FF41"/>
                </a:solidFill>
                <a:latin typeface="Consolas"/>
                <a:ea typeface="Consolas"/>
              </a:rPr>
              <a:t>模块结构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CDD"/>
                </a:solidFill>
                <a:latin typeface="Consolas"/>
                <a:ea typeface="Consolas"/>
              </a:rPr>
              <a:t>com.codeswatch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CDD"/>
                </a:solidFill>
                <a:latin typeface="Consolas"/>
                <a:ea typeface="Consolas"/>
              </a:rPr>
              <a:t>├─ controller   接口层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CDD"/>
                </a:solidFill>
                <a:latin typeface="Consolas"/>
                <a:ea typeface="Consolas"/>
              </a:rPr>
              <a:t>├─ service      扫描引擎/任务/LLM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CDD"/>
                </a:solidFill>
                <a:latin typeface="Consolas"/>
                <a:ea typeface="Consolas"/>
              </a:rPr>
              <a:t>├─ repository   数据访问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CDD"/>
                </a:solidFill>
                <a:latin typeface="Consolas"/>
                <a:ea typeface="Consolas"/>
              </a:rPr>
              <a:t>├─ entity       实体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CDD"/>
                </a:solidFill>
                <a:latin typeface="Consolas"/>
                <a:ea typeface="Consolas"/>
              </a:rPr>
              <a:t>├─ dto          数据传输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CDD"/>
                </a:solidFill>
                <a:latin typeface="Consolas"/>
                <a:ea typeface="Consolas"/>
              </a:rPr>
              <a:t>├─ config       初始化/异常/跨域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CDD"/>
                </a:solidFill>
                <a:latin typeface="Consolas"/>
                <a:ea typeface="Consolas"/>
              </a:rPr>
              <a:t>└─ static       前端页面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0058400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0FF41"/>
                </a:solidFill>
                <a:latin typeface="微软雅黑"/>
                <a:ea typeface="微软雅黑"/>
              </a:rPr>
              <a:t>快速开始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554480" cy="3200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6510528"/>
            <a:ext cx="731520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CodesWatch · AI 代码安全审计平台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6510528"/>
            <a:ext cx="1078992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18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057400" cy="237744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800"/>
              </a:spcAft>
            </a:pPr>
            <a:r>
              <a:rPr sz="1250" b="1">
                <a:solidFill>
                  <a:srgbClr val="00FF41"/>
                </a:solidFill>
                <a:latin typeface="微软雅黑"/>
                <a:ea typeface="微软雅黑"/>
              </a:rPr>
              <a:t>01 初始化数据库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8AA892"/>
                </a:solidFill>
                <a:latin typeface="Consolas"/>
                <a:ea typeface="Consolas"/>
              </a:rPr>
              <a:t>mysql -u root -p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8AA892"/>
                </a:solidFill>
                <a:latin typeface="Consolas"/>
                <a:ea typeface="Consolas"/>
              </a:rPr>
              <a:t>&lt; init.sql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8AA892"/>
                </a:solidFill>
                <a:latin typeface="Consolas"/>
                <a:ea typeface="Consolas"/>
              </a:rPr>
              <a:t>（含提示词初始数据）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06039" y="2898648"/>
            <a:ext cx="292608" cy="237744"/>
          </a:xfrm>
          <a:prstGeom prst="right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98648" y="1828800"/>
            <a:ext cx="2057400" cy="237744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800"/>
              </a:spcAft>
            </a:pPr>
            <a:r>
              <a:rPr sz="1250" b="1">
                <a:solidFill>
                  <a:srgbClr val="00FF41"/>
                </a:solidFill>
                <a:latin typeface="微软雅黑"/>
                <a:ea typeface="微软雅黑"/>
              </a:rPr>
              <a:t>02 配置连接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8AA892"/>
                </a:solidFill>
                <a:latin typeface="Consolas"/>
                <a:ea typeface="Consolas"/>
              </a:rPr>
              <a:t>编辑 application.yml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8AA892"/>
                </a:solidFill>
                <a:latin typeface="Consolas"/>
                <a:ea typeface="Consolas"/>
              </a:rPr>
              <a:t>数据库连接信息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001768" y="2898648"/>
            <a:ext cx="292608" cy="237744"/>
          </a:xfrm>
          <a:prstGeom prst="right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94376" y="1828800"/>
            <a:ext cx="2057400" cy="237744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800"/>
              </a:spcAft>
            </a:pPr>
            <a:r>
              <a:rPr sz="1250" b="1">
                <a:solidFill>
                  <a:srgbClr val="00FF41"/>
                </a:solidFill>
                <a:latin typeface="微软雅黑"/>
                <a:ea typeface="微软雅黑"/>
              </a:rPr>
              <a:t>03 构建启动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8AA892"/>
                </a:solidFill>
                <a:latin typeface="Consolas"/>
                <a:ea typeface="Consolas"/>
              </a:rPr>
              <a:t>mvn clean package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8AA892"/>
                </a:solidFill>
                <a:latin typeface="Consolas"/>
                <a:ea typeface="Consolas"/>
              </a:rPr>
              <a:t>java -jar target/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8AA892"/>
                </a:solidFill>
                <a:latin typeface="Consolas"/>
                <a:ea typeface="Consolas"/>
              </a:rPr>
              <a:t>codeswatch-1.0.0.jar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97496" y="2898648"/>
            <a:ext cx="292608" cy="237744"/>
          </a:xfrm>
          <a:prstGeom prst="right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690104" y="1828800"/>
            <a:ext cx="2057400" cy="237744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800"/>
              </a:spcAft>
            </a:pPr>
            <a:r>
              <a:rPr sz="1250" b="1">
                <a:solidFill>
                  <a:srgbClr val="00FF41"/>
                </a:solidFill>
                <a:latin typeface="微软雅黑"/>
                <a:ea typeface="微软雅黑"/>
              </a:rPr>
              <a:t>04 配置系统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8AA892"/>
                </a:solidFill>
                <a:latin typeface="Consolas"/>
                <a:ea typeface="Consolas"/>
              </a:rPr>
              <a:t>页面内配置大模型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8AA892"/>
                </a:solidFill>
                <a:latin typeface="Consolas"/>
                <a:ea typeface="Consolas"/>
              </a:rPr>
              <a:t>与各阶段提示词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793224" y="2898648"/>
            <a:ext cx="292608" cy="237744"/>
          </a:xfrm>
          <a:prstGeom prst="right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85832" y="1828800"/>
            <a:ext cx="2057400" cy="237744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800"/>
              </a:spcAft>
            </a:pPr>
            <a:r>
              <a:rPr sz="1250" b="1">
                <a:solidFill>
                  <a:srgbClr val="00FF41"/>
                </a:solidFill>
                <a:latin typeface="微软雅黑"/>
                <a:ea typeface="微软雅黑"/>
              </a:rPr>
              <a:t>05 开始扫描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8AA892"/>
                </a:solidFill>
                <a:latin typeface="Consolas"/>
                <a:ea typeface="Consolas"/>
              </a:rPr>
              <a:t>新建项目上传 ZIP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8AA892"/>
                </a:solidFill>
                <a:latin typeface="Consolas"/>
                <a:ea typeface="Consolas"/>
              </a:rPr>
              <a:t>启动扫描，查看报告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09160"/>
            <a:ext cx="11201400" cy="731520"/>
          </a:xfrm>
          <a:prstGeom prst="roundRect">
            <a:avLst>
              <a:gd name="adj" fmla="val 10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00FF41"/>
                </a:solidFill>
                <a:latin typeface="微软雅黑"/>
                <a:ea typeface="微软雅黑"/>
              </a:rPr>
              <a:t>环境要求：JDK 17+ · MySQL 8.x · Maven 3.6+  ｜ 详细步骤见 README.md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0058400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lang="zh-CN" altLang="en-US" sz="2600" b="1">
                <a:solidFill>
                  <a:srgbClr val="00FF41"/>
                </a:solidFill>
                <a:latin typeface="微软雅黑"/>
                <a:ea typeface="微软雅黑"/>
              </a:rPr>
              <a:t>目前</a:t>
            </a:r>
            <a:r>
              <a:rPr sz="2600" b="1">
                <a:solidFill>
                  <a:srgbClr val="00FF41"/>
                </a:solidFill>
                <a:latin typeface="微软雅黑"/>
                <a:ea typeface="微软雅黑"/>
              </a:rPr>
              <a:t>局限</a:t>
            </a:r>
            <a:endParaRPr sz="2600" b="1" dirty="0">
              <a:solidFill>
                <a:srgbClr val="00FF41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554480" cy="3200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6510528"/>
            <a:ext cx="731520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CodesWatch · AI 代码安全审计平台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6510528"/>
            <a:ext cx="1078992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19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0A1C0F"/>
          </a:solidFill>
          <a:ln w="12700">
            <a:solidFill>
              <a:srgbClr val="FFB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B000"/>
                </a:solidFill>
                <a:latin typeface="微软雅黑"/>
                <a:ea typeface="微软雅黑"/>
              </a:rPr>
              <a:t>大模型适配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D8ECDD"/>
                </a:solidFill>
                <a:latin typeface="微软雅黑"/>
                <a:ea typeface="微软雅黑"/>
              </a:rPr>
              <a:t>模型配置目前主要适配 DeepSeek，其他 OpenAI 兼容厂商未逐一验证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0A1C0F"/>
          </a:solidFill>
          <a:ln w="12700">
            <a:solidFill>
              <a:srgbClr val="FFB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B000"/>
                </a:solidFill>
                <a:latin typeface="微软雅黑"/>
                <a:ea typeface="微软雅黑"/>
              </a:rPr>
              <a:t>框架适配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D8ECDD"/>
                </a:solidFill>
                <a:latin typeface="微软雅黑"/>
                <a:ea typeface="微软雅黑"/>
              </a:rPr>
              <a:t>接口提取仅支持 @GetMapping / @PostMapping / @RequestMapping，其他框架待扩展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49039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0A1C0F"/>
          </a:solidFill>
          <a:ln w="12700">
            <a:solidFill>
              <a:srgbClr val="FFB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B000"/>
                </a:solidFill>
                <a:latin typeface="微软雅黑"/>
                <a:ea typeface="微软雅黑"/>
              </a:rPr>
              <a:t>Token 消耗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D8ECDD"/>
                </a:solidFill>
                <a:latin typeface="微软雅黑"/>
                <a:ea typeface="微软雅黑"/>
              </a:rPr>
              <a:t>每个接口按漏洞类型重复扫描，token 消耗较大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49039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0A1C0F"/>
          </a:solidFill>
          <a:ln w="12700">
            <a:solidFill>
              <a:srgbClr val="FFB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B000"/>
                </a:solidFill>
                <a:latin typeface="微软雅黑"/>
                <a:ea typeface="微软雅黑"/>
              </a:rPr>
              <a:t>漏扫风险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D8ECDD"/>
                </a:solidFill>
                <a:latin typeface="微软雅黑"/>
                <a:ea typeface="微软雅黑"/>
              </a:rPr>
              <a:t>单接口分析中，多重 SQL 拼接 / 多文件上传点等场景可能存在漏扫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0058400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0FF41"/>
                </a:solidFill>
                <a:latin typeface="微软雅黑"/>
                <a:ea typeface="微软雅黑"/>
              </a:rPr>
              <a:t>后续优化目标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554480" cy="3200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6510528"/>
            <a:ext cx="731520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CodesWatch · AI 代码安全审计平台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6510528"/>
            <a:ext cx="1078992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8AA892"/>
                </a:solidFill>
                <a:latin typeface="微软雅黑"/>
                <a:ea typeface="微软雅黑"/>
              </a:rPr>
              <a:t>20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2468880" cy="219456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0FF41"/>
                </a:solidFill>
                <a:latin typeface="Consolas"/>
                <a:ea typeface="Consolas"/>
              </a:rPr>
              <a:t>01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0FF41"/>
                </a:solidFill>
                <a:latin typeface="微软雅黑"/>
                <a:ea typeface="微软雅黑"/>
              </a:rPr>
              <a:t>适配更多大模型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扩展更多厂商与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本地模型的接入验证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26663" y="2990088"/>
            <a:ext cx="320040" cy="237744"/>
          </a:xfrm>
          <a:prstGeom prst="right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46704" y="2011680"/>
            <a:ext cx="2468880" cy="219456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0FF41"/>
                </a:solidFill>
                <a:latin typeface="Consolas"/>
                <a:ea typeface="Consolas"/>
              </a:rPr>
              <a:t>02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0FF41"/>
                </a:solidFill>
                <a:latin typeface="微软雅黑"/>
                <a:ea typeface="微软雅黑"/>
              </a:rPr>
              <a:t>适配更多框架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更多 Spring 注解与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其他语言框架接口提取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70448" y="2990088"/>
            <a:ext cx="320040" cy="237744"/>
          </a:xfrm>
          <a:prstGeom prst="right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90488" y="2011680"/>
            <a:ext cx="2468880" cy="219456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0FF41"/>
                </a:solidFill>
                <a:latin typeface="Consolas"/>
                <a:ea typeface="Consolas"/>
              </a:rPr>
              <a:t>03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0FF41"/>
                </a:solidFill>
                <a:latin typeface="微软雅黑"/>
                <a:ea typeface="微软雅黑"/>
              </a:rPr>
              <a:t>引入 Code-Graph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代码图精确供给上下文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减少 token 消耗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14232" y="2990088"/>
            <a:ext cx="320040" cy="237744"/>
          </a:xfrm>
          <a:prstGeom prst="rightArrow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034272" y="2011680"/>
            <a:ext cx="2468880" cy="2194560"/>
          </a:xfrm>
          <a:prstGeom prst="roundRect">
            <a:avLst>
              <a:gd name="adj" fmla="val 8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0FF41"/>
                </a:solidFill>
                <a:latin typeface="Consolas"/>
                <a:ea typeface="Consolas"/>
              </a:rPr>
              <a:t>04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0FF41"/>
                </a:solidFill>
                <a:latin typeface="微软雅黑"/>
                <a:ea typeface="微软雅黑"/>
              </a:rPr>
              <a:t>扫描调用栈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任务内建立栈结构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A892"/>
                </a:solidFill>
                <a:latin typeface="微软雅黑"/>
                <a:ea typeface="微软雅黑"/>
              </a:rPr>
              <a:t>深度链路追踪减少漏扫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754880"/>
            <a:ext cx="11201400" cy="731520"/>
          </a:xfrm>
          <a:prstGeom prst="roundRect">
            <a:avLst>
              <a:gd name="adj" fmla="val 10000"/>
            </a:avLst>
          </a:prstGeom>
          <a:solidFill>
            <a:srgbClr val="0A1C0F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FF41"/>
                </a:solidFill>
                <a:latin typeface="微软雅黑"/>
                <a:ea typeface="微软雅黑"/>
              </a:rPr>
              <a:t>方向：让系统更强、更省、更准 —— 模型越强，系统越强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2103120"/>
            <a:ext cx="12191695" cy="10972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00FF41"/>
                </a:solidFill>
                <a:latin typeface="微软雅黑"/>
                <a:ea typeface="微软雅黑"/>
              </a:rPr>
              <a:t>谢谢观看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3474720"/>
            <a:ext cx="12191695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</a:rPr>
              <a:t>CodesWatch —— 把人工代码审计流程自动化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4206240"/>
            <a:ext cx="12191695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F7A3D"/>
                </a:solidFill>
                <a:latin typeface="Consolas"/>
                <a:ea typeface="Consolas"/>
              </a:rPr>
              <a:t>github.com/mlf519/CodesWatch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120640"/>
            <a:ext cx="12191695" cy="27432"/>
          </a:xfrm>
          <a:prstGeom prst="rect">
            <a:avLst/>
          </a:prstGeom>
          <a:solidFill>
            <a:srgbClr val="0E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1182</Words>
  <Application>Microsoft Office PowerPoint</Application>
  <PresentationFormat>宽屏</PresentationFormat>
  <Paragraphs>361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林峰 马</cp:lastModifiedBy>
  <cp:revision>13</cp:revision>
  <dcterms:created xsi:type="dcterms:W3CDTF">2013-01-27T09:14:16Z</dcterms:created>
  <dcterms:modified xsi:type="dcterms:W3CDTF">2026-09-21T02:20:49Z</dcterms:modified>
  <cp:category/>
</cp:coreProperties>
</file>